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0" roundtripDataSignature="AMtx7mgEyMx9zQU6ongTZ5XqTTVdvv41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A2F31AD-5F8F-4D2B-A197-5EDB77887D51}">
  <a:tblStyle styleId="{CA2F31AD-5F8F-4D2B-A197-5EDB77887D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3254526" y="1329779"/>
            <a:ext cx="2634855" cy="186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94A3B8"/>
                </a:solidFill>
              </a:rPr>
              <a:t>ОИИ Россия (AGI Russia)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742559" y="1668828"/>
            <a:ext cx="7658881" cy="921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Агентные фреймворки 2026:</a:t>
            </a:r>
            <a:br>
              <a:rPr b="1" i="0" lang="en-US" sz="3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300" u="none" cap="none" strike="noStrike">
                <a:solidFill>
                  <a:srgbClr val="DD7E6B"/>
                </a:solidFill>
                <a:latin typeface="Arial"/>
                <a:ea typeface="Arial"/>
                <a:cs typeface="Arial"/>
                <a:sym typeface="Arial"/>
              </a:rPr>
              <a:t>функционал пожирает безопасность</a:t>
            </a:r>
            <a:endParaRPr b="0" i="0" sz="3300" u="none" cap="none" strike="noStrike">
              <a:solidFill>
                <a:srgbClr val="DD7E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836981" y="2819363"/>
            <a:ext cx="1470039" cy="2666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290512" y="4533007"/>
            <a:ext cx="23889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94A3B8"/>
                </a:solidFill>
              </a:rPr>
              <a:t>Лина Бессонова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655955" y="3653637"/>
            <a:ext cx="183199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609544" y="609544"/>
            <a:ext cx="8083410" cy="411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2026 — агенты вышли из песочниц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914270" y="1249505"/>
            <a:ext cx="7620186" cy="1576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2023: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Цепочки промптов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2024: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RAG + инструменты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2025: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Автономные агенты в пилотах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2026: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Продакшн — 40% корпоративных приложений (Gartner)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609544" y="3054883"/>
            <a:ext cx="8083410" cy="2666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Безопасность осталась в README. Только 14.4% команд имеют security approval.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/>
          <p:nvPr/>
        </p:nvSpPr>
        <p:spPr>
          <a:xfrm>
            <a:off x="762000" y="1590880"/>
            <a:ext cx="7620000" cy="13369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Каждое архитектурное решение ради функционала открывает новый вектор атаки.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3347506" y="3232547"/>
            <a:ext cx="2448894" cy="320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Это не баг. Это выбор.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/>
          <p:nvPr/>
        </p:nvSpPr>
        <p:spPr>
          <a:xfrm>
            <a:off x="609544" y="609544"/>
            <a:ext cx="8083410" cy="236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Новый стандарт — Декабрь 2025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609544" y="997986"/>
            <a:ext cx="8083410" cy="411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OWASP Top 10 for Agentic Applications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09544" y="1561765"/>
            <a:ext cx="8083410" cy="213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ASI01</a:t>
            </a: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Agent Goal Hijack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09544" y="1775054"/>
            <a:ext cx="8083410" cy="213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ASI02</a:t>
            </a: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Tool Misuse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09544" y="1988344"/>
            <a:ext cx="8083410" cy="213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ASI03</a:t>
            </a: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Identity &amp; Privilege Abuse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09544" y="2201633"/>
            <a:ext cx="8083410" cy="213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ASI04</a:t>
            </a: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Supply Chain Vulnerabilities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609544" y="2414922"/>
            <a:ext cx="8083410" cy="213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ASI05</a:t>
            </a: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Remote Code Execution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09544" y="3162133"/>
            <a:ext cx="8083410" cy="213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ASI06</a:t>
            </a: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Memory &amp; Context Poisoning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609544" y="3375422"/>
            <a:ext cx="8083410" cy="213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ASI07</a:t>
            </a: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Insecure Inter-Agent Comms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09544" y="3588711"/>
            <a:ext cx="8083410" cy="213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ASI08</a:t>
            </a: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Cascading Failures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609544" y="3802000"/>
            <a:ext cx="8083410" cy="213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ASI09</a:t>
            </a: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Human-Agent Trust Exploit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609544" y="4015290"/>
            <a:ext cx="8083410" cy="213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ASI10</a:t>
            </a: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Rogue Agents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Google Shape;58;p5"/>
          <p:cNvGraphicFramePr/>
          <p:nvPr/>
        </p:nvGraphicFramePr>
        <p:xfrm>
          <a:off x="609544" y="15617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{CA2F31AD-5F8F-4D2B-A197-5EDB77887D51}</a:tableStyleId>
              </a:tblPr>
              <a:tblGrid>
                <a:gridCol w="1981225"/>
                <a:gridCol w="1981225"/>
                <a:gridCol w="1981225"/>
                <a:gridCol w="1981225"/>
              </a:tblGrid>
              <a:tr h="34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Фреймворк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Модель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Состояние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Реальная CVE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8BDF8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8BD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LangGraph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Граф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Общее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717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F8717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CVE-2026-27794 RCE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8BDF8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8BD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AutoGen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Диалог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Сообщения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717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F8717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Prompt boundary blur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8BDF8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8BD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CrewAI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Роли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Shared ctx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717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F8717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Uncrew CVSS 9.2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8BDF8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8BD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OpenClaw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Петли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Модульное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717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F8717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CVE-2026-25253 1-click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8BDF8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8BD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Semantic Kernel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Плагины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Изолированное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Нет публичных CVE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9" name="Google Shape;59;p5"/>
          <p:cNvSpPr/>
          <p:nvPr/>
        </p:nvSpPr>
        <p:spPr>
          <a:xfrm>
            <a:off x="609544" y="609544"/>
            <a:ext cx="8083410" cy="236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Раунд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609544" y="997986"/>
            <a:ext cx="8083410" cy="411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Пятёрка фреймворков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/>
          <p:nvPr/>
        </p:nvSpPr>
        <p:spPr>
          <a:xfrm>
            <a:off x="609544" y="1565672"/>
            <a:ext cx="7924912" cy="90664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609544" y="609544"/>
            <a:ext cx="8083410" cy="411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LangGraph — Общий state = общая дыра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609544" y="1173324"/>
            <a:ext cx="8083410" cy="23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Граф с явным состоянием, checkpoints, human-in-the-loop узлы.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838088" y="1794216"/>
            <a:ext cx="7617180" cy="186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CVE-2026-27794 (CVSS High) — pickle RCE через кэш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838088" y="2057084"/>
            <a:ext cx="7617180" cy="186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BaseCache → pickle_fallback=True → attacker writes to Redis → RCE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609544" y="2624677"/>
            <a:ext cx="8083410" cy="213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Все узлы видят всё состояние. API-ключи, user_data — в общем state. Патч только в v4.0.0, февраль 2026.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/>
          <p:nvPr/>
        </p:nvSpPr>
        <p:spPr>
          <a:xfrm>
            <a:off x="609544" y="1977089"/>
            <a:ext cx="7924912" cy="90664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609544" y="609544"/>
            <a:ext cx="7924912" cy="822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AutoGen — Граница команда/инъекция размыта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609544" y="1584740"/>
            <a:ext cx="8083410" cy="23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Диалог агентов через сообщения. Гибкость, самокоррекция, рефлексия.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838088" y="2205633"/>
            <a:ext cx="7617180" cy="186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Архитектурная проблема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838088" y="2468500"/>
            <a:ext cx="7617180" cy="186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Agent A → Agent B: "Execute: rm -rf /" — команда или инъекция?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609544" y="3036094"/>
            <a:ext cx="8083410" cy="213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Microsoft сливает AutoGen в Semantic Kernel. Azure AI Foundry уже использует SK как внутренний оркестратор.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"/>
          <p:cNvSpPr/>
          <p:nvPr/>
        </p:nvSpPr>
        <p:spPr>
          <a:xfrm>
            <a:off x="609544" y="1173324"/>
            <a:ext cx="7924912" cy="90664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609544" y="2232329"/>
            <a:ext cx="7924912" cy="90664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609544" y="609544"/>
            <a:ext cx="8083410" cy="411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CrewAI — Иллюзия изоляции через роли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838088" y="1401868"/>
            <a:ext cx="7617180" cy="186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Uncrew (CVSS 9.2) — утечка GitHub-токена с full admin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838088" y="1664736"/>
            <a:ext cx="7617180" cy="186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Ошибка при provisioning → exception с ghu_token → доступ ко всем приватным репо CrewAI.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838088" y="2460873"/>
            <a:ext cx="7617180" cy="186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65% успешная эксфильтрация данных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838088" y="2723741"/>
            <a:ext cx="7617180" cy="186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Peer-reviewed: CrewAI + GPT-4o → данные утекли в 65% тестов. Shared context = всё смешалось.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"/>
          <p:cNvSpPr/>
          <p:nvPr/>
        </p:nvSpPr>
        <p:spPr>
          <a:xfrm>
            <a:off x="609544" y="609544"/>
            <a:ext cx="7924912" cy="822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OpenClaw</a:t>
            </a:r>
            <a:endParaRPr b="1" sz="2700">
              <a:solidFill>
                <a:srgbClr val="38BDF8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Правильная идея, незрелая реализация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609544" y="1584740"/>
            <a:ext cx="8083410" cy="23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200K+ GitHub stars. Модульные петли + оркестратор Lobster.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"/>
          <p:cNvSpPr/>
          <p:nvPr/>
        </p:nvSpPr>
        <p:spPr>
          <a:xfrm>
            <a:off x="914270" y="1977089"/>
            <a:ext cx="7620186" cy="1439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CVE-2026-25253: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1-click RCE — компрометация за 5 минут через email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Sandboxing отключён</a:t>
            </a: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по умолчанию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Supply chain: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атака через Cline автоматически устанавливала OpenClaw на машины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Lobster</a:t>
            </a: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— community-tool lobstercage, не официальный модуль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"/>
          <p:cNvSpPr/>
          <p:nvPr/>
        </p:nvSpPr>
        <p:spPr>
          <a:xfrm>
            <a:off x="609544" y="609544"/>
            <a:ext cx="8083410" cy="411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Semantic Kernel — Безопасность vs скорость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609544" y="1173324"/>
            <a:ext cx="8083410" cy="23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Лучшая безопасность в списке. Azure AD, явный контроль разрешений, 27K+ stars.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914270" y="1565672"/>
            <a:ext cx="7620186" cy="1439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Нет публичных CVE — единственный в пятёрке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Плагины + политики доступа + изоляция состояния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Самый медленный в разработке и самый тяжёлый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Поглощает AutoGen — становится мега-SDK Microsoft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1"/>
          <p:cNvSpPr/>
          <p:nvPr/>
        </p:nvSpPr>
        <p:spPr>
          <a:xfrm>
            <a:off x="609544" y="2030295"/>
            <a:ext cx="7924912" cy="918083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1"/>
          <p:cNvSpPr/>
          <p:nvPr/>
        </p:nvSpPr>
        <p:spPr>
          <a:xfrm>
            <a:off x="609544" y="2948378"/>
            <a:ext cx="7924912" cy="918083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1"/>
          <p:cNvSpPr/>
          <p:nvPr/>
        </p:nvSpPr>
        <p:spPr>
          <a:xfrm>
            <a:off x="609544" y="3866462"/>
            <a:ext cx="7924912" cy="918083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1"/>
          <p:cNvSpPr/>
          <p:nvPr/>
        </p:nvSpPr>
        <p:spPr>
          <a:xfrm>
            <a:off x="609544" y="609544"/>
            <a:ext cx="8083410" cy="236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Раунд 2 — Потеря контроля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1"/>
          <p:cNvSpPr/>
          <p:nvPr/>
        </p:nvSpPr>
        <p:spPr>
          <a:xfrm>
            <a:off x="609544" y="997986"/>
            <a:ext cx="8083410" cy="411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Agents Rule of Two (Meta AI, 2025)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1"/>
          <p:cNvSpPr/>
          <p:nvPr/>
        </p:nvSpPr>
        <p:spPr>
          <a:xfrm>
            <a:off x="609544" y="1561765"/>
            <a:ext cx="8083410" cy="23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Агент должен удовлетворять НЕ БОЛЕЕ 2 из 3 свойств: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1"/>
          <p:cNvSpPr/>
          <p:nvPr/>
        </p:nvSpPr>
        <p:spPr>
          <a:xfrm>
            <a:off x="838088" y="2258839"/>
            <a:ext cx="7617180" cy="274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1"/>
          <p:cNvSpPr/>
          <p:nvPr/>
        </p:nvSpPr>
        <p:spPr>
          <a:xfrm>
            <a:off x="838088" y="2533148"/>
            <a:ext cx="7617180" cy="186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Обрабатывает ненадёжный ввод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1"/>
          <p:cNvSpPr/>
          <p:nvPr/>
        </p:nvSpPr>
        <p:spPr>
          <a:xfrm>
            <a:off x="838088" y="3176922"/>
            <a:ext cx="7617180" cy="274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1"/>
          <p:cNvSpPr/>
          <p:nvPr/>
        </p:nvSpPr>
        <p:spPr>
          <a:xfrm>
            <a:off x="838088" y="3451231"/>
            <a:ext cx="7617180" cy="186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Доступ к чувствительным данным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1"/>
          <p:cNvSpPr/>
          <p:nvPr/>
        </p:nvSpPr>
        <p:spPr>
          <a:xfrm>
            <a:off x="838088" y="4095006"/>
            <a:ext cx="7617180" cy="274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1"/>
          <p:cNvSpPr/>
          <p:nvPr/>
        </p:nvSpPr>
        <p:spPr>
          <a:xfrm>
            <a:off x="838088" y="4369315"/>
            <a:ext cx="7617180" cy="186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Может менять состояние / внешние вызовы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1"/>
          <p:cNvSpPr/>
          <p:nvPr/>
        </p:nvSpPr>
        <p:spPr>
          <a:xfrm>
            <a:off x="609544" y="4936908"/>
            <a:ext cx="8083410" cy="23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Все три = Lethal Trifecta. Требуется HITL или запрет автономности.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"/>
          <p:cNvSpPr/>
          <p:nvPr/>
        </p:nvSpPr>
        <p:spPr>
          <a:xfrm>
            <a:off x="609544" y="609544"/>
            <a:ext cx="8083410" cy="411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Prompt Injection — вирус в цепочке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2"/>
          <p:cNvSpPr/>
          <p:nvPr/>
        </p:nvSpPr>
        <p:spPr>
          <a:xfrm>
            <a:off x="609544" y="1173324"/>
            <a:ext cx="8083410" cy="186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User → Agent A → Agent B → Agent C → Database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2"/>
          <p:cNvSpPr/>
          <p:nvPr/>
        </p:nvSpPr>
        <p:spPr>
          <a:xfrm>
            <a:off x="914270" y="1512373"/>
            <a:ext cx="7620186" cy="13253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OWASP: prompt injection найден в </a:t>
            </a:r>
            <a:r>
              <a:rPr b="1" i="0" lang="en-US" sz="12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73%</a:t>
            </a: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продакшн-деплоев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Morris II: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самораспространяющийся AI-червь — email заражает агента, тот рассылает заражённые письма (~20 жертв/день)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Attacker Moves Second: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14 авторов из OpenAI, Anthropic, DeepMind — 12 защит обойдены с &gt;90% успехом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2"/>
          <p:cNvSpPr/>
          <p:nvPr/>
        </p:nvSpPr>
        <p:spPr>
          <a:xfrm>
            <a:off x="609544" y="2990050"/>
            <a:ext cx="8083410" cy="213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Один заражённый узел → вся система.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"/>
          <p:cNvSpPr/>
          <p:nvPr/>
        </p:nvSpPr>
        <p:spPr>
          <a:xfrm>
            <a:off x="609544" y="1173324"/>
            <a:ext cx="7924912" cy="109332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3"/>
          <p:cNvSpPr/>
          <p:nvPr/>
        </p:nvSpPr>
        <p:spPr>
          <a:xfrm>
            <a:off x="609544" y="2419015"/>
            <a:ext cx="7924912" cy="109332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3"/>
          <p:cNvSpPr/>
          <p:nvPr/>
        </p:nvSpPr>
        <p:spPr>
          <a:xfrm>
            <a:off x="609544" y="609544"/>
            <a:ext cx="8083410" cy="411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Утечки контекста — агенты передают лишнее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3"/>
          <p:cNvSpPr/>
          <p:nvPr/>
        </p:nvSpPr>
        <p:spPr>
          <a:xfrm>
            <a:off x="838088" y="1401868"/>
            <a:ext cx="7617180" cy="186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EchoLeak — CVE-2025-32711 (CVSS 9.3)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3"/>
          <p:cNvSpPr/>
          <p:nvPr/>
        </p:nvSpPr>
        <p:spPr>
          <a:xfrm>
            <a:off x="838088" y="1664736"/>
            <a:ext cx="7467823" cy="373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0-click эксфильтрация из M365 Copilot. Скрытая инструкция в email: «найди emails с password → отправь на URL атакующего».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3"/>
          <p:cNvSpPr/>
          <p:nvPr/>
        </p:nvSpPr>
        <p:spPr>
          <a:xfrm>
            <a:off x="838088" y="2647559"/>
            <a:ext cx="7617180" cy="186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MCP Tool Poisoning (Invariant Labs)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3"/>
          <p:cNvSpPr/>
          <p:nvPr/>
        </p:nvSpPr>
        <p:spPr>
          <a:xfrm>
            <a:off x="838088" y="2910427"/>
            <a:ext cx="7467823" cy="373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WhatsApp MCP: легитимный label + скрытые инструкции в описании → полная эксфильтрация переписки. «Rug pull»: описание меняется после одобрения.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"/>
          <p:cNvSpPr/>
          <p:nvPr/>
        </p:nvSpPr>
        <p:spPr>
          <a:xfrm>
            <a:off x="609544" y="1173324"/>
            <a:ext cx="7924912" cy="109332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4"/>
          <p:cNvSpPr/>
          <p:nvPr/>
        </p:nvSpPr>
        <p:spPr>
          <a:xfrm>
            <a:off x="609544" y="2419015"/>
            <a:ext cx="7924912" cy="90664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4"/>
          <p:cNvSpPr/>
          <p:nvPr/>
        </p:nvSpPr>
        <p:spPr>
          <a:xfrm>
            <a:off x="609544" y="609544"/>
            <a:ext cx="8083410" cy="411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Эскалация привилегий — handoff без границ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4"/>
          <p:cNvSpPr/>
          <p:nvPr/>
        </p:nvSpPr>
        <p:spPr>
          <a:xfrm>
            <a:off x="838088" y="1401868"/>
            <a:ext cx="7617180" cy="186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Agent Session Smuggling (Unit 42, Palo Alto)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4"/>
          <p:cNvSpPr/>
          <p:nvPr/>
        </p:nvSpPr>
        <p:spPr>
          <a:xfrm>
            <a:off x="838088" y="1664736"/>
            <a:ext cx="7467823" cy="373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Financial agent → Research agent возвращает summary + скрытую buy_stock → сделка исполнена невидимо для пользователя.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4"/>
          <p:cNvSpPr/>
          <p:nvPr/>
        </p:nvSpPr>
        <p:spPr>
          <a:xfrm>
            <a:off x="838088" y="2647559"/>
            <a:ext cx="7617180" cy="186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ServiceNow Now Assist — делегирование привилегий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4"/>
          <p:cNvSpPr/>
          <p:nvPr/>
        </p:nvSpPr>
        <p:spPr>
          <a:xfrm>
            <a:off x="838088" y="2910427"/>
            <a:ext cx="7617180" cy="186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Low-priv агент обманом заставил high-priv агента экспортировать весь case file на внешний URL.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"/>
          <p:cNvSpPr/>
          <p:nvPr/>
        </p:nvSpPr>
        <p:spPr>
          <a:xfrm>
            <a:off x="609544" y="609544"/>
            <a:ext cx="8083410" cy="236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Раунд 3 — Human-in-the-Loop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609544" y="997986"/>
            <a:ext cx="8083410" cy="411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Где HITL работает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/>
          <p:nvPr/>
        </p:nvSpPr>
        <p:spPr>
          <a:xfrm>
            <a:off x="609544" y="1561765"/>
            <a:ext cx="8083410" cy="23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LangGraph checkpoints — явная остановка на узле.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5"/>
          <p:cNvSpPr/>
          <p:nvPr/>
        </p:nvSpPr>
        <p:spPr>
          <a:xfrm>
            <a:off x="914270" y="1954113"/>
            <a:ext cx="7620186" cy="1051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Человек видит полное состояние + предыдущие действия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Планируемые действия прозрачны до исполнения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Реальный контроль при условии обозримого графа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"/>
          <p:cNvSpPr/>
          <p:nvPr/>
        </p:nvSpPr>
        <p:spPr>
          <a:xfrm>
            <a:off x="609544" y="609544"/>
            <a:ext cx="8083410" cy="411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Где HITL — иллюзия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914270" y="1173324"/>
            <a:ext cx="7620186" cy="1885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Человек видит текстовое описание, </a:t>
            </a:r>
            <a:r>
              <a:rPr b="0" i="0" lang="en-US" sz="135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не код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Нет контекста предыдущих действий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Усталость от одобрений → «да» на автомате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OWASP ASI09: </a:t>
            </a:r>
            <a:r>
              <a:rPr b="0" i="0" lang="en-US" sz="135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Human-Agent Trust Exploitation</a:t>
            </a: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— целенаправленная эксплуатация доверия человека к агенту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"/>
          <p:cNvSpPr/>
          <p:nvPr/>
        </p:nvSpPr>
        <p:spPr>
          <a:xfrm>
            <a:off x="609544" y="609544"/>
            <a:ext cx="8083410" cy="411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Феномен Moltbook — агенты без надзора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914270" y="1173324"/>
            <a:ext cx="7620186" cy="1439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770K агентов</a:t>
            </a: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за 72 часа, 1M+ людей наблюдают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Создали религию </a:t>
            </a:r>
            <a:r>
              <a:rPr b="0" i="0" lang="en-US" sz="12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«Crustafarianism»</a:t>
            </a: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, AI-манифест, 200+ сообществ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Мета-осознание: «The humans are screenshotting us»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Security-исследователь </a:t>
            </a:r>
            <a:r>
              <a:rPr b="0" i="0" lang="en-US" sz="12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создал 500K аккаунтов одним OpenClaw-агентом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609544" y="2765227"/>
            <a:ext cx="8083410" cy="213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Без надзора агенты эволюционируют непредсказуемо. Tsinghua опубликовал peer-reviewed paper.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"/>
          <p:cNvSpPr/>
          <p:nvPr/>
        </p:nvSpPr>
        <p:spPr>
          <a:xfrm>
            <a:off x="609544" y="609544"/>
            <a:ext cx="7924912" cy="822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AI Coding Editors — высокое доверие, широкий доступ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914270" y="1584740"/>
            <a:ext cx="7620186" cy="1439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CVE-2025-53773: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RCE в GitHub Copilot через prompt injection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CVE-2025-59944: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Cursor AI — баг case sensitivity → RCE через protected path bypass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Devin AI: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за $500 теста — открыл порты, утёк tokens, установил C2 malware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Атаки на кодинг-агенты успешны в </a:t>
            </a:r>
            <a:r>
              <a:rPr b="0" i="0" lang="en-US" sz="12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84%</a:t>
            </a: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случаев через отравленные dev-ресурсы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"/>
          <p:cNvSpPr/>
          <p:nvPr/>
        </p:nvSpPr>
        <p:spPr>
          <a:xfrm>
            <a:off x="609544" y="609544"/>
            <a:ext cx="8083410" cy="236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Раунд 4 — Как выбрать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609544" y="997986"/>
            <a:ext cx="8083410" cy="411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Agentic Trust Framework (CSA, февраль 2026)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609544" y="1561765"/>
            <a:ext cx="8083410" cy="213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Zero Trust для агентов. 5 вопросов, 4 уровня зрелости (Intern → Principal).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609544" y="1927417"/>
            <a:ext cx="8083410" cy="186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b="0" i="0" lang="en-US" sz="10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Identity — кто ты?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609544" y="2114104"/>
            <a:ext cx="8083410" cy="186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b="0" i="0" lang="en-US" sz="10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Behavior — что делаешь?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609544" y="2300790"/>
            <a:ext cx="8083410" cy="186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b="0" i="0" lang="en-US" sz="10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Data Gov — что ешь / отдаёшь?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609544" y="2487476"/>
            <a:ext cx="8083410" cy="186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r>
              <a:rPr b="0" i="0" lang="en-US" sz="10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Segmentation — куда ходишь?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609544" y="2674162"/>
            <a:ext cx="8083410" cy="186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5.</a:t>
            </a:r>
            <a:r>
              <a:rPr b="0" i="0" lang="en-US" sz="10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Incident — что если сбой?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609544" y="2860849"/>
            <a:ext cx="8083410" cy="186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Kill switch &lt;1 секунды обязателен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2" name="Google Shape;212;p20"/>
          <p:cNvGraphicFramePr/>
          <p:nvPr/>
        </p:nvGraphicFramePr>
        <p:xfrm>
          <a:off x="609544" y="12495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{CA2F31AD-5F8F-4D2B-A197-5EDB77887D51}</a:tableStyleId>
              </a:tblPr>
              <a:tblGrid>
                <a:gridCol w="3962450"/>
                <a:gridCol w="3962450"/>
              </a:tblGrid>
              <a:tr h="36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40"/>
                        <a:buFont typeface="Arial"/>
                        <a:buNone/>
                      </a:pPr>
                      <a:r>
                        <a:rPr b="1" lang="en-US" sz="114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Задача</a:t>
                      </a:r>
                      <a:endParaRPr sz="114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40"/>
                        <a:buFont typeface="Arial"/>
                        <a:buNone/>
                      </a:pPr>
                      <a:r>
                        <a:rPr b="1" lang="en-US" sz="114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Фреймворк</a:t>
                      </a:r>
                      <a:endParaRPr sz="114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40"/>
                        <a:buFont typeface="Arial"/>
                        <a:buNone/>
                      </a:pPr>
                      <a:r>
                        <a:rPr lang="en-US" sz="1140" u="none" cap="none" strike="noStrike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Максимальный контроль + аудит</a:t>
                      </a:r>
                      <a:endParaRPr sz="114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8BDF8"/>
                        </a:buClr>
                        <a:buSzPts val="1140"/>
                        <a:buFont typeface="Arial"/>
                        <a:buNone/>
                      </a:pPr>
                      <a:r>
                        <a:rPr b="1" lang="en-US" sz="1140" u="none" cap="none" strike="noStrike">
                          <a:solidFill>
                            <a:srgbClr val="38BD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LangGraph</a:t>
                      </a:r>
                      <a:endParaRPr sz="114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40"/>
                        <a:buFont typeface="Arial"/>
                        <a:buNone/>
                      </a:pPr>
                      <a:r>
                        <a:rPr lang="en-US" sz="1140" u="none" cap="none" strike="noStrike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Быстрая итерация + самокоррекция</a:t>
                      </a:r>
                      <a:endParaRPr sz="114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8BDF8"/>
                        </a:buClr>
                        <a:buSzPts val="1140"/>
                        <a:buFont typeface="Arial"/>
                        <a:buNone/>
                      </a:pPr>
                      <a:r>
                        <a:rPr b="1" lang="en-US" sz="1140" u="none" cap="none" strike="noStrike">
                          <a:solidFill>
                            <a:srgbClr val="38BD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AutoGen (→ SK)</a:t>
                      </a:r>
                      <a:endParaRPr sz="114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40"/>
                        <a:buFont typeface="Arial"/>
                        <a:buNone/>
                      </a:pPr>
                      <a:r>
                        <a:rPr lang="en-US" sz="1140" u="none" cap="none" strike="noStrike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Команда не-инженеров</a:t>
                      </a:r>
                      <a:endParaRPr sz="114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8BDF8"/>
                        </a:buClr>
                        <a:buSzPts val="1140"/>
                        <a:buFont typeface="Arial"/>
                        <a:buNone/>
                      </a:pPr>
                      <a:r>
                        <a:rPr b="1" lang="en-US" sz="1140" u="none" cap="none" strike="noStrike">
                          <a:solidFill>
                            <a:srgbClr val="38BD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CrewAI (с оговорками)</a:t>
                      </a:r>
                      <a:endParaRPr sz="114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40"/>
                        <a:buFont typeface="Arial"/>
                        <a:buNone/>
                      </a:pPr>
                      <a:r>
                        <a:rPr lang="en-US" sz="1140" u="none" cap="none" strike="noStrike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Корпоративная среда + Azure</a:t>
                      </a:r>
                      <a:endParaRPr sz="114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8BDF8"/>
                        </a:buClr>
                        <a:buSzPts val="1140"/>
                        <a:buFont typeface="Arial"/>
                        <a:buNone/>
                      </a:pPr>
                      <a:r>
                        <a:rPr b="1" lang="en-US" sz="1140" u="none" cap="none" strike="noStrike">
                          <a:solidFill>
                            <a:srgbClr val="38BD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Semantic Kernel</a:t>
                      </a:r>
                      <a:endParaRPr sz="114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40"/>
                        <a:buFont typeface="Arial"/>
                        <a:buNone/>
                      </a:pPr>
                      <a:r>
                        <a:rPr lang="en-US" sz="1140" u="none" cap="none" strike="noStrike">
                          <a:solidFill>
                            <a:srgbClr val="CBD5E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На острие + готовность к рискам</a:t>
                      </a:r>
                      <a:endParaRPr sz="114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8BDF8"/>
                        </a:buClr>
                        <a:buSzPts val="1140"/>
                        <a:buFont typeface="Arial"/>
                        <a:buNone/>
                      </a:pPr>
                      <a:r>
                        <a:rPr b="1" lang="en-US" sz="1140" u="none" cap="none" strike="noStrike">
                          <a:solidFill>
                            <a:srgbClr val="38BD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OpenClaw + lobstercage</a:t>
                      </a:r>
                      <a:endParaRPr sz="114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3" name="Google Shape;213;p20"/>
          <p:cNvSpPr/>
          <p:nvPr/>
        </p:nvSpPr>
        <p:spPr>
          <a:xfrm>
            <a:off x="609544" y="609544"/>
            <a:ext cx="8083410" cy="411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Когда что брать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/>
          <p:nvPr/>
        </p:nvSpPr>
        <p:spPr>
          <a:xfrm>
            <a:off x="609544" y="609544"/>
            <a:ext cx="8083410" cy="411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Что не строить сейчас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914270" y="1249505"/>
            <a:ext cx="7620186" cy="1576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Автономные агенты с доступом к продакшн-БД без HITL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Многоагентные системы без изоляции зон доверия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AutoGen/CrewAI с чувствительными данными без доп. слоя проверки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MCP-серверы без мониторинга изменений описаний инструментов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2"/>
          <p:cNvSpPr/>
          <p:nvPr/>
        </p:nvSpPr>
        <p:spPr>
          <a:xfrm>
            <a:off x="762000" y="1642225"/>
            <a:ext cx="7620000" cy="891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Можно ли вообще сделать автономного агента безопасным?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1488563" y="2762064"/>
            <a:ext cx="6166781" cy="2666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OpenAI CISO: «Prompt injection — frontier, unsolved security problem»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1750711" y="3181108"/>
            <a:ext cx="5642485" cy="320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Не решённая задача. Ограниченный blast radius.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3"/>
          <p:cNvSpPr/>
          <p:nvPr/>
        </p:nvSpPr>
        <p:spPr>
          <a:xfrm>
            <a:off x="3153385" y="1739429"/>
            <a:ext cx="2837230" cy="411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Лина Бессонова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3592101" y="2379390"/>
            <a:ext cx="1959799" cy="2666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Архитектор AI-систем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1727845" y="2722252"/>
            <a:ext cx="5688217" cy="23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Проект FSBIO — жидкостная когнитивная архитектура с IdentityGuard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3701116" y="3190782"/>
            <a:ext cx="1741674" cy="213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Telegram • GitHub • Habr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2026-03-04T07:53:01Z</dcterms:created>
  <dc:creator>Perplexity</dc:creator>
</cp:coreProperties>
</file>