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9"/>
  </p:notesMasterIdLst>
  <p:sldIdLst>
    <p:sldId id="256" r:id="rId2"/>
    <p:sldId id="311" r:id="rId3"/>
    <p:sldId id="304" r:id="rId4"/>
    <p:sldId id="273" r:id="rId5"/>
    <p:sldId id="305" r:id="rId6"/>
    <p:sldId id="289" r:id="rId7"/>
    <p:sldId id="306" r:id="rId8"/>
    <p:sldId id="307" r:id="rId9"/>
    <p:sldId id="309" r:id="rId10"/>
    <p:sldId id="310" r:id="rId11"/>
    <p:sldId id="308" r:id="rId12"/>
    <p:sldId id="314" r:id="rId13"/>
    <p:sldId id="315" r:id="rId14"/>
    <p:sldId id="316" r:id="rId15"/>
    <p:sldId id="317" r:id="rId16"/>
    <p:sldId id="318" r:id="rId17"/>
    <p:sldId id="312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7" r:id="rId26"/>
    <p:sldId id="326" r:id="rId27"/>
    <p:sldId id="282" r:id="rId28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5CE"/>
    <a:srgbClr val="99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688584-CE0C-DF6F-80F8-899FFD7A98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0FB4058-0D6A-E973-3CEC-DF64F78385F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300B420-01F5-50A9-6F8F-E62BB59552F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81FC6946-E28B-CAD0-AFE7-A45BB2FC5F0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Click to edit Master text styles</a:t>
            </a:r>
          </a:p>
          <a:p>
            <a:pPr lvl="1"/>
            <a:r>
              <a:rPr lang="fr-FR" noProof="0"/>
              <a:t>Second level</a:t>
            </a:r>
          </a:p>
          <a:p>
            <a:pPr lvl="2"/>
            <a:r>
              <a:rPr lang="fr-FR" noProof="0"/>
              <a:t>Third level</a:t>
            </a:r>
          </a:p>
          <a:p>
            <a:pPr lvl="3"/>
            <a:r>
              <a:rPr lang="fr-FR" noProof="0"/>
              <a:t>Fourth level</a:t>
            </a:r>
          </a:p>
          <a:p>
            <a:pPr lvl="4"/>
            <a:r>
              <a:rPr lang="fr-FR" noProof="0"/>
              <a:t>Fifth level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5C182CBC-58FD-FC27-8ED4-8C65FF5F7E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6510AB91-DD9D-4A98-7178-5262FECCE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A041B49-718C-4107-8415-C9710B17DDA2}" type="slidenum">
              <a:rPr lang="fr-FR" altLang="en-US"/>
              <a:pPr>
                <a:defRPr/>
              </a:pPr>
              <a:t>‹#›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 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0C3646-2592-03DC-9E81-1C49959E21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19A2C-B57B-4ABF-896E-3495A9A1C0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96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C513AD-DA4E-113E-E723-ED8957F00E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A3439-26F4-4EAD-B897-82ADF71984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65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6A1589-42BA-8250-4A46-6AD0AF064CD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29E07-A1A4-455F-B5DF-AFAAA41627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71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341438"/>
            <a:ext cx="4038600" cy="478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4038600" cy="478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8BDA3-3820-60A5-A238-73CCA0CABDE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315AE-B6CE-43D6-B204-C385C60A80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88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D0BA62-34B4-0B32-12F0-69225B0674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66565-2DD3-493A-80B2-0A78CCB137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46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401B5D-F1BF-23F3-EEDA-F4C014E8F9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9A81C-CE90-4F6F-B292-7C9B1CFFB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7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3E1DDBF-03FB-E781-535D-B8187D591A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B8AAA-8125-4516-AEB8-1DBE74D253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92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5D601-5210-7497-642E-3CBC8E28C1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85B28-16E7-4D8E-A139-C1F05B1653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05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0E921-8928-1D9A-D1E1-51093A57B1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CA3C3-00ED-4359-999A-833582894F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81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0C8F45-6FC0-5FC6-4F5E-321B44C87F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DB077-CB45-4A24-8595-2F418B17C3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99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7DE890-D113-085B-9E9B-890E108842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E57C4-396D-4C28-BB1F-492E293853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32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20821A-B83C-1C37-D766-58CEC12D3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74638"/>
            <a:ext cx="820737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1DB03F-9B76-A752-D3A3-6103FC61D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23493676-4D8C-A0CE-B511-144077F6C5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61658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993300"/>
                </a:solidFill>
              </a:defRPr>
            </a:lvl1pPr>
          </a:lstStyle>
          <a:p>
            <a:pPr>
              <a:defRPr/>
            </a:pPr>
            <a:fld id="{D9076002-8C68-4A60-AE73-950668D127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29" name="Picture 5" descr="logo">
            <a:extLst>
              <a:ext uri="{FF2B5EF4-FFF2-40B4-BE49-F238E27FC236}">
                <a16:creationId xmlns:a16="http://schemas.microsoft.com/office/drawing/2014/main" id="{068D20A3-F5E1-6471-9D4B-338C546DE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143625"/>
            <a:ext cx="863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7" descr="logo">
            <a:extLst>
              <a:ext uri="{FF2B5EF4-FFF2-40B4-BE49-F238E27FC236}">
                <a16:creationId xmlns:a16="http://schemas.microsoft.com/office/drawing/2014/main" id="{04FF7BD6-0296-1CBA-D434-CC26D371DC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143625"/>
            <a:ext cx="863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8">
            <a:extLst>
              <a:ext uri="{FF2B5EF4-FFF2-40B4-BE49-F238E27FC236}">
                <a16:creationId xmlns:a16="http://schemas.microsoft.com/office/drawing/2014/main" id="{76938269-6CDC-B147-6F24-E9D9DEC4B0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31913" y="6308725"/>
            <a:ext cx="3413125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>
                <a:solidFill>
                  <a:srgbClr val="993300"/>
                </a:solidFill>
              </a:rPr>
              <a:t>Centre for Modernity Studies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99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9933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9933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9933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9933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9933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9933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9933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993300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Номер слайда 3">
            <a:extLst>
              <a:ext uri="{FF2B5EF4-FFF2-40B4-BE49-F238E27FC236}">
                <a16:creationId xmlns:a16="http://schemas.microsoft.com/office/drawing/2014/main" id="{A07F9382-2757-E1DE-2155-A1BB513CA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614CEF-F40F-4D68-A55C-F7CAC4543E62}" type="slidenum">
              <a:rPr lang="ru-RU" altLang="en-US" sz="16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ru-RU" altLang="en-US" sz="16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238DE807-E52D-782E-9AFA-6E3AA21B54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620713"/>
            <a:ext cx="8496300" cy="2016125"/>
          </a:xfrm>
        </p:spPr>
        <p:txBody>
          <a:bodyPr/>
          <a:lstStyle/>
          <a:p>
            <a:pPr algn="ctr"/>
            <a:r>
              <a:rPr lang="en-GB" altLang="en-US" sz="3600" b="1" dirty="0"/>
              <a:t>LLM </a:t>
            </a:r>
            <a:r>
              <a:rPr lang="ru-RU" altLang="en-US" sz="3600" b="1" dirty="0"/>
              <a:t>в оптике системного формализма Н. Лумана</a:t>
            </a:r>
            <a:endParaRPr lang="en-GB" altLang="en-US" sz="3600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7392A67D-40F1-A147-9AF1-96286BD555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76375" y="2887663"/>
            <a:ext cx="6400800" cy="1081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en-US"/>
              <a:t>Павел Крупкин,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en-US"/>
              <a:t>Центр изучения Современности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E3E4CA0D-2660-E74D-3963-A97D66ED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322763"/>
            <a:ext cx="6400800" cy="1520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ru-RU" sz="2000" dirty="0">
                <a:solidFill>
                  <a:srgbClr val="993300"/>
                </a:solidFill>
                <a:latin typeface="+mn-lt"/>
              </a:rPr>
              <a:t>Семинар Русскоязычного Сообщества разработчиков Сильного ИИ (</a:t>
            </a:r>
            <a:r>
              <a:rPr lang="en-GB" sz="2000" dirty="0">
                <a:solidFill>
                  <a:srgbClr val="993300"/>
                </a:solidFill>
                <a:latin typeface="+mn-lt"/>
              </a:rPr>
              <a:t>AGI-in-Russian)</a:t>
            </a:r>
          </a:p>
          <a:p>
            <a:pPr algn="ctr">
              <a:defRPr/>
            </a:pPr>
            <a:endParaRPr lang="ru-RU" altLang="en-US" sz="800" dirty="0">
              <a:solidFill>
                <a:srgbClr val="993300"/>
              </a:solidFill>
              <a:latin typeface="+mn-lt"/>
            </a:endParaRPr>
          </a:p>
          <a:p>
            <a:pPr algn="ctr">
              <a:defRPr/>
            </a:pPr>
            <a:r>
              <a:rPr lang="en-GB" altLang="en-US" sz="2000" dirty="0">
                <a:solidFill>
                  <a:srgbClr val="993300"/>
                </a:solidFill>
                <a:latin typeface="+mn-lt"/>
              </a:rPr>
              <a:t>2</a:t>
            </a:r>
            <a:r>
              <a:rPr lang="ru-RU" altLang="en-US" sz="2000" dirty="0">
                <a:solidFill>
                  <a:srgbClr val="993300"/>
                </a:solidFill>
                <a:latin typeface="+mn-lt"/>
              </a:rPr>
              <a:t>4 сентября </a:t>
            </a:r>
            <a:r>
              <a:rPr lang="fr-FR" altLang="en-US" sz="2000" dirty="0">
                <a:solidFill>
                  <a:srgbClr val="993300"/>
                </a:solidFill>
                <a:latin typeface="+mn-lt"/>
              </a:rPr>
              <a:t>2026</a:t>
            </a:r>
            <a:endParaRPr lang="ru-RU" altLang="en-US" sz="2000" dirty="0">
              <a:solidFill>
                <a:srgbClr val="9933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4F5AA-3AFF-5697-997C-6BB99811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>
            <a:extLst>
              <a:ext uri="{FF2B5EF4-FFF2-40B4-BE49-F238E27FC236}">
                <a16:creationId xmlns:a16="http://schemas.microsoft.com/office/drawing/2014/main" id="{DDACB149-5E0D-4B1D-16B0-F6CB79DF3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AC0E50-C024-47A8-A806-6826E9FD0A24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6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05E796E-AADD-3608-AC2E-2C3BB30C8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 sz="4000" dirty="0"/>
              <a:t>Рамки доклада</a:t>
            </a:r>
            <a:endParaRPr lang="en-US" altLang="en-US" sz="40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CBB6C5DD-5C74-8E63-3913-6F6EBD2E0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Проблема: Почему </a:t>
            </a:r>
            <a:r>
              <a:rPr lang="en-GB" altLang="en-US" dirty="0"/>
              <a:t>LLM / </a:t>
            </a:r>
            <a:r>
              <a:rPr lang="ru-RU" altLang="en-US" dirty="0" err="1"/>
              <a:t>ноосвик</a:t>
            </a:r>
            <a:r>
              <a:rPr lang="ru-RU" altLang="en-US" dirty="0"/>
              <a:t> способен поддерживать долгую беседу так, что люди находят ее осмысленной?</a:t>
            </a:r>
          </a:p>
          <a:p>
            <a:pPr eaLnBrk="1" hangingPunct="1"/>
            <a:r>
              <a:rPr lang="ru-RU" altLang="en-US" dirty="0"/>
              <a:t>«Смысловые системы» Никласа Лумана – определяются потоками мыслей (Л-сознание) и актов коммуникации (Л-сообщества)</a:t>
            </a:r>
          </a:p>
          <a:p>
            <a:pPr eaLnBrk="1" hangingPunct="1"/>
            <a:r>
              <a:rPr lang="ru-RU" altLang="en-US" dirty="0"/>
              <a:t>Данные потоки </a:t>
            </a:r>
            <a:r>
              <a:rPr lang="ru-RU" altLang="en-US" dirty="0" err="1"/>
              <a:t>лумановских</a:t>
            </a:r>
            <a:r>
              <a:rPr lang="ru-RU" altLang="en-US" dirty="0"/>
              <a:t> систем формуются Л-смыслом</a:t>
            </a:r>
          </a:p>
        </p:txBody>
      </p:sp>
    </p:spTree>
    <p:extLst>
      <p:ext uri="{BB962C8B-B14F-4D97-AF65-F5344CB8AC3E}">
        <p14:creationId xmlns:p14="http://schemas.microsoft.com/office/powerpoint/2010/main" val="128200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64E8-AD0D-914C-423A-3F9C0B45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Н. Лумана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D23725-BF6F-2083-5D79-77070A0ED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995"/>
            <a:ext cx="8229600" cy="46316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DA2B3-D0D2-7993-446E-123D65749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35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>
            <a:extLst>
              <a:ext uri="{FF2B5EF4-FFF2-40B4-BE49-F238E27FC236}">
                <a16:creationId xmlns:a16="http://schemas.microsoft.com/office/drawing/2014/main" id="{35540887-DE9A-5E99-B479-2B234B142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AC0E50-C024-47A8-A806-6826E9FD0A24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6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933B69E-26E5-8FB3-537F-6F2BEB9B3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 sz="4000" dirty="0"/>
              <a:t>Никлас Луман: Основное</a:t>
            </a:r>
            <a:endParaRPr lang="en-US" altLang="en-US" sz="40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4853C865-4CDF-FC8C-7E0A-6EC428E0C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Системность. </a:t>
            </a:r>
          </a:p>
          <a:p>
            <a:pPr lvl="1" eaLnBrk="1" hangingPunct="1"/>
            <a:r>
              <a:rPr lang="ru-RU" altLang="en-US" dirty="0"/>
              <a:t>«Переворот в подходе»: «обычно» для моделей социальных систем человек брался как элемент целиком, Луман «поделил» людей – на психические системы (Л-сознания), и компоненты социальных систем (Л-сообщества).</a:t>
            </a:r>
          </a:p>
          <a:p>
            <a:pPr lvl="1" eaLnBrk="1" hangingPunct="1"/>
            <a:r>
              <a:rPr lang="ru-RU" altLang="en-US" dirty="0"/>
              <a:t>Системы определяются потоками операций: Л-сознание – потоком мыслей, Л-сообщества – потоками актов </a:t>
            </a:r>
            <a:r>
              <a:rPr lang="ru-RU" altLang="en-US" dirty="0" err="1"/>
              <a:t>коммуник</a:t>
            </a:r>
            <a:r>
              <a:rPr lang="ru-RU" alt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8D16-4F7E-E789-8029-18BFCFF1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1A9A45EF-1C2B-70F2-D993-1BC4A724E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FEB5D54-0395-303C-2FA2-79F49599D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 err="1"/>
              <a:t>Лумановские</a:t>
            </a:r>
            <a:r>
              <a:rPr lang="ru-RU" altLang="en-US" sz="4000" dirty="0"/>
              <a:t> системы</a:t>
            </a:r>
            <a:r>
              <a:rPr lang="en-GB" altLang="en-US" sz="4000" dirty="0"/>
              <a:t> </a:t>
            </a:r>
            <a:r>
              <a:rPr lang="ru-RU" altLang="en-US" sz="4000" dirty="0"/>
              <a:t>1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98CBC7F-2709-A7DB-696B-12906D941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Определены потоками операций – основное системное различение</a:t>
            </a:r>
          </a:p>
          <a:p>
            <a:pPr lvl="1" eaLnBrk="1" hangingPunct="1"/>
            <a:r>
              <a:rPr lang="ru-RU" altLang="en-US" dirty="0"/>
              <a:t>Где операции возможны, там система</a:t>
            </a:r>
          </a:p>
          <a:p>
            <a:pPr lvl="1" eaLnBrk="1" hangingPunct="1"/>
            <a:r>
              <a:rPr lang="ru-RU" altLang="en-US" dirty="0"/>
              <a:t>Остальное – среда системы</a:t>
            </a:r>
          </a:p>
          <a:p>
            <a:pPr eaLnBrk="1" hangingPunct="1"/>
            <a:r>
              <a:rPr lang="ru-RU" altLang="en-US" dirty="0"/>
              <a:t>Операционная замкнутость: </a:t>
            </a:r>
          </a:p>
          <a:p>
            <a:pPr lvl="1" eaLnBrk="1" hangingPunct="1"/>
            <a:r>
              <a:rPr lang="ru-RU" altLang="en-US" dirty="0"/>
              <a:t>Операции – они только в системе</a:t>
            </a:r>
          </a:p>
          <a:p>
            <a:pPr lvl="1" eaLnBrk="1" hangingPunct="1"/>
            <a:r>
              <a:rPr lang="ru-RU" altLang="en-US" dirty="0"/>
              <a:t>Обменов операциями со средой нет</a:t>
            </a:r>
          </a:p>
          <a:p>
            <a:pPr eaLnBrk="1" hangingPunct="1"/>
            <a:r>
              <a:rPr lang="ru-RU" altLang="en-US" dirty="0"/>
              <a:t>Системные структуры</a:t>
            </a:r>
          </a:p>
          <a:p>
            <a:pPr lvl="1" eaLnBrk="1" hangingPunct="1"/>
            <a:r>
              <a:rPr lang="ru-RU" altLang="en-US" dirty="0"/>
              <a:t>Все то, что влияет на потоки операций, и зачастую определяются операциями</a:t>
            </a:r>
          </a:p>
        </p:txBody>
      </p:sp>
    </p:spTree>
    <p:extLst>
      <p:ext uri="{BB962C8B-B14F-4D97-AF65-F5344CB8AC3E}">
        <p14:creationId xmlns:p14="http://schemas.microsoft.com/office/powerpoint/2010/main" val="12087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75B62714-51F4-E217-B98E-726C6736B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C69F52E-4BD6-028D-754F-4712A5094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 err="1"/>
              <a:t>Лумановские</a:t>
            </a:r>
            <a:r>
              <a:rPr lang="ru-RU" altLang="en-US" sz="4000" dirty="0"/>
              <a:t> системы</a:t>
            </a:r>
            <a:r>
              <a:rPr lang="en-GB" altLang="en-US" sz="4000" dirty="0"/>
              <a:t> 2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650ACA-503C-7961-6D03-DE9C70F98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Связи между системами – структуры сопряжения: операции в другие системы не переходят, но они «раздражают» – с возможной генерацией операций с другой системе.</a:t>
            </a:r>
          </a:p>
          <a:p>
            <a:pPr eaLnBrk="1" hangingPunct="1"/>
            <a:r>
              <a:rPr lang="ru-RU" altLang="en-US" dirty="0"/>
              <a:t>Сопряжение Л-сознание – Тело</a:t>
            </a:r>
          </a:p>
          <a:p>
            <a:pPr lvl="1" eaLnBrk="1" hangingPunct="1"/>
            <a:r>
              <a:rPr lang="ru-RU" altLang="en-US" dirty="0"/>
              <a:t>Мысли </a:t>
            </a:r>
            <a:r>
              <a:rPr lang="en-GB" altLang="en-US" dirty="0"/>
              <a:t>=&gt; </a:t>
            </a:r>
            <a:r>
              <a:rPr lang="ru-RU" altLang="en-US" dirty="0"/>
              <a:t>Раздражение двигательного драйвера </a:t>
            </a:r>
            <a:r>
              <a:rPr lang="en-GB" altLang="en-US" dirty="0"/>
              <a:t>=&gt; </a:t>
            </a:r>
            <a:r>
              <a:rPr lang="ru-RU" altLang="en-US" dirty="0"/>
              <a:t>Рука поднялась</a:t>
            </a:r>
          </a:p>
          <a:p>
            <a:pPr lvl="1" eaLnBrk="1" hangingPunct="1"/>
            <a:r>
              <a:rPr lang="ru-RU" altLang="en-US" dirty="0"/>
              <a:t>Органы чувств </a:t>
            </a:r>
            <a:r>
              <a:rPr lang="en-GB" altLang="en-US" dirty="0"/>
              <a:t>=&gt; </a:t>
            </a:r>
            <a:r>
              <a:rPr lang="ru-RU" altLang="en-US" dirty="0" err="1"/>
              <a:t>Раздр</a:t>
            </a:r>
            <a:r>
              <a:rPr lang="ru-RU" altLang="en-US" dirty="0"/>
              <a:t>. Л-сознания </a:t>
            </a:r>
            <a:r>
              <a:rPr lang="en-GB" altLang="en-US" dirty="0"/>
              <a:t>=&gt;</a:t>
            </a:r>
            <a:r>
              <a:rPr lang="fr-FR" altLang="en-US" dirty="0"/>
              <a:t> </a:t>
            </a:r>
            <a:r>
              <a:rPr lang="ru-RU" altLang="en-US" dirty="0"/>
              <a:t>Мысль и, возможно, поток</a:t>
            </a:r>
          </a:p>
        </p:txBody>
      </p:sp>
    </p:spTree>
    <p:extLst>
      <p:ext uri="{BB962C8B-B14F-4D97-AF65-F5344CB8AC3E}">
        <p14:creationId xmlns:p14="http://schemas.microsoft.com/office/powerpoint/2010/main" val="2322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C381-9750-395F-9750-0975B878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942B718C-D720-C3C9-96CB-7AFEEF3BD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883EC8D-A25A-D49E-AB12-76A245C4E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 err="1"/>
              <a:t>Лумановские</a:t>
            </a:r>
            <a:r>
              <a:rPr lang="ru-RU" altLang="en-US" sz="4000" dirty="0"/>
              <a:t> системы</a:t>
            </a:r>
            <a:r>
              <a:rPr lang="en-GB" altLang="en-US" sz="4000" dirty="0"/>
              <a:t> </a:t>
            </a:r>
            <a:r>
              <a:rPr lang="ru-RU" altLang="en-US" sz="4000" dirty="0"/>
              <a:t>3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20CB687-DEF0-C40F-73CB-50CAFFB14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Сопряжение Л-сознание – Л-социум</a:t>
            </a:r>
          </a:p>
          <a:p>
            <a:pPr lvl="1" eaLnBrk="1" hangingPunct="1"/>
            <a:r>
              <a:rPr lang="ru-RU" altLang="en-US" dirty="0"/>
              <a:t>Мысли (внутренняя речь 1) </a:t>
            </a:r>
            <a:r>
              <a:rPr lang="en-GB" altLang="en-US" dirty="0"/>
              <a:t>=&gt; </a:t>
            </a:r>
            <a:r>
              <a:rPr lang="ru-RU" altLang="en-US" dirty="0" err="1"/>
              <a:t>Раздр</a:t>
            </a:r>
            <a:r>
              <a:rPr lang="ru-RU" altLang="en-US" dirty="0"/>
              <a:t>. речевых драйверов (тело) </a:t>
            </a:r>
            <a:r>
              <a:rPr lang="en-GB" altLang="en-US" dirty="0"/>
              <a:t>=&gt; </a:t>
            </a:r>
            <a:r>
              <a:rPr lang="ru-RU" altLang="en-US" dirty="0"/>
              <a:t>Речь</a:t>
            </a:r>
          </a:p>
          <a:p>
            <a:pPr lvl="1" eaLnBrk="1" hangingPunct="1"/>
            <a:r>
              <a:rPr lang="ru-RU" altLang="en-US" dirty="0"/>
              <a:t>Мысли (внутренняя речь 2) </a:t>
            </a:r>
            <a:r>
              <a:rPr lang="en-GB" altLang="en-US" dirty="0"/>
              <a:t>=&gt; </a:t>
            </a:r>
            <a:r>
              <a:rPr lang="ru-RU" altLang="en-US" dirty="0" err="1"/>
              <a:t>Раздр</a:t>
            </a:r>
            <a:r>
              <a:rPr lang="ru-RU" altLang="en-US" dirty="0"/>
              <a:t>. </a:t>
            </a:r>
            <a:r>
              <a:rPr lang="ru-RU" altLang="en-US" dirty="0" err="1"/>
              <a:t>двиг</a:t>
            </a:r>
            <a:r>
              <a:rPr lang="ru-RU" altLang="en-US" dirty="0"/>
              <a:t>. драйверов (тело) </a:t>
            </a:r>
            <a:r>
              <a:rPr lang="en-GB" altLang="en-US" dirty="0"/>
              <a:t>=&gt; </a:t>
            </a:r>
            <a:r>
              <a:rPr lang="ru-RU" altLang="en-US" dirty="0"/>
              <a:t>Письмо</a:t>
            </a:r>
          </a:p>
          <a:p>
            <a:pPr lvl="1" eaLnBrk="1" hangingPunct="1"/>
            <a:r>
              <a:rPr lang="ru-RU" altLang="en-US" dirty="0"/>
              <a:t>Внешняя речь </a:t>
            </a:r>
            <a:r>
              <a:rPr lang="en-GB" altLang="en-US" dirty="0"/>
              <a:t>=&gt; </a:t>
            </a:r>
            <a:r>
              <a:rPr lang="ru-RU" altLang="en-US" dirty="0"/>
              <a:t>(органы слуха тела) </a:t>
            </a:r>
            <a:r>
              <a:rPr lang="en-GB" altLang="en-US" dirty="0"/>
              <a:t>=&gt; </a:t>
            </a:r>
            <a:r>
              <a:rPr lang="ru-RU" altLang="en-US" dirty="0" err="1"/>
              <a:t>Раздр</a:t>
            </a:r>
            <a:r>
              <a:rPr lang="ru-RU" altLang="en-US" dirty="0"/>
              <a:t>. Л-сознания  </a:t>
            </a:r>
            <a:r>
              <a:rPr lang="en-GB" altLang="en-US" dirty="0"/>
              <a:t>=&gt; </a:t>
            </a:r>
            <a:r>
              <a:rPr lang="ru-RU" altLang="en-US" dirty="0"/>
              <a:t>Мысли (понимание)</a:t>
            </a:r>
          </a:p>
          <a:p>
            <a:pPr lvl="1" eaLnBrk="1" hangingPunct="1"/>
            <a:r>
              <a:rPr lang="ru-RU" altLang="en-US" dirty="0"/>
              <a:t>Текст </a:t>
            </a:r>
            <a:r>
              <a:rPr lang="en-GB" altLang="en-US" dirty="0"/>
              <a:t>=&gt; </a:t>
            </a:r>
            <a:r>
              <a:rPr lang="ru-RU" altLang="en-US" dirty="0"/>
              <a:t>(органы зрения тела) </a:t>
            </a:r>
            <a:r>
              <a:rPr lang="en-GB" altLang="en-US" dirty="0"/>
              <a:t>=&gt; </a:t>
            </a:r>
            <a:r>
              <a:rPr lang="ru-RU" altLang="en-US" dirty="0" err="1"/>
              <a:t>Раздр</a:t>
            </a:r>
            <a:r>
              <a:rPr lang="ru-RU" altLang="en-US" dirty="0"/>
              <a:t>. Л-сознания  </a:t>
            </a:r>
            <a:r>
              <a:rPr lang="en-GB" altLang="en-US" dirty="0"/>
              <a:t>=&gt; </a:t>
            </a:r>
            <a:r>
              <a:rPr lang="ru-RU" altLang="en-US" dirty="0"/>
              <a:t>Мысли (понимание)</a:t>
            </a:r>
          </a:p>
          <a:p>
            <a:pPr lvl="1" eaLnBrk="1" hangingPunct="1"/>
            <a:endParaRPr lang="ru-RU" altLang="en-US" dirty="0"/>
          </a:p>
          <a:p>
            <a:pPr eaLnBrk="1" hangingPunct="1"/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48756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1A8A-B8E1-0C0C-3CBF-865BAC58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92A238CC-16FF-FCBD-3BCE-2B2FFA4B1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BF8FF91-C9CB-FF16-3A30-146A54F00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 err="1"/>
              <a:t>Лумановские</a:t>
            </a:r>
            <a:r>
              <a:rPr lang="ru-RU" altLang="en-US" sz="4000" dirty="0"/>
              <a:t> системы</a:t>
            </a:r>
            <a:r>
              <a:rPr lang="en-GB" altLang="en-US" sz="4000" dirty="0"/>
              <a:t> </a:t>
            </a:r>
            <a:r>
              <a:rPr lang="ru-RU" altLang="en-US" sz="4000" dirty="0"/>
              <a:t>4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BE00A11E-4007-E86C-1696-A9ADF5DB3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 dirty="0"/>
              <a:t>Re-entry: </a:t>
            </a:r>
            <a:r>
              <a:rPr lang="ru-RU" altLang="en-US" dirty="0"/>
              <a:t>Основное системное различение возможно и для операций: т.е. различаются операции «о среде» и операции «о системе»</a:t>
            </a:r>
          </a:p>
          <a:p>
            <a:pPr eaLnBrk="1" hangingPunct="1"/>
            <a:r>
              <a:rPr lang="ru-RU" altLang="en-US" dirty="0" err="1"/>
              <a:t>Автопоэзис</a:t>
            </a:r>
            <a:r>
              <a:rPr lang="ru-RU" altLang="en-US" dirty="0"/>
              <a:t> – обобщение понятия «жизнь»: система </a:t>
            </a:r>
            <a:r>
              <a:rPr lang="ru-RU" altLang="en-US" dirty="0" err="1"/>
              <a:t>автопоэтична</a:t>
            </a:r>
            <a:r>
              <a:rPr lang="ru-RU" altLang="en-US" dirty="0"/>
              <a:t>, когда она во времени – «как живая»: </a:t>
            </a:r>
          </a:p>
          <a:p>
            <a:pPr lvl="1" eaLnBrk="1" hangingPunct="1"/>
            <a:r>
              <a:rPr lang="ru-RU" altLang="en-US" dirty="0"/>
              <a:t>Л-сознания – потоки мысли</a:t>
            </a:r>
          </a:p>
          <a:p>
            <a:pPr lvl="1" eaLnBrk="1" hangingPunct="1"/>
            <a:r>
              <a:rPr lang="ru-RU" altLang="en-US" dirty="0"/>
              <a:t>Л-сообщества – потоки актов коммуникации – (социальные организмы)</a:t>
            </a:r>
          </a:p>
        </p:txBody>
      </p:sp>
    </p:spTree>
    <p:extLst>
      <p:ext uri="{BB962C8B-B14F-4D97-AF65-F5344CB8AC3E}">
        <p14:creationId xmlns:p14="http://schemas.microsoft.com/office/powerpoint/2010/main" val="32265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D610-4D74-DDF2-8698-22A3CAE6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86623345-5AD5-2DFD-75E5-4B286DAB9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ED78B6D-32FA-A994-C571-29EF1EC32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 err="1"/>
              <a:t>Лумановские</a:t>
            </a:r>
            <a:r>
              <a:rPr lang="ru-RU" altLang="en-US" sz="4000" dirty="0"/>
              <a:t> системы</a:t>
            </a:r>
            <a:r>
              <a:rPr lang="en-GB" altLang="en-US" sz="4000" dirty="0"/>
              <a:t> </a:t>
            </a:r>
            <a:r>
              <a:rPr lang="ru-RU" altLang="en-US" sz="4000" dirty="0"/>
              <a:t>5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373AA3C-8C3A-8E5F-859D-00EFFEBF2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Формование потоков</a:t>
            </a:r>
            <a:r>
              <a:rPr lang="en-GB" altLang="en-US" dirty="0"/>
              <a:t>: </a:t>
            </a:r>
            <a:r>
              <a:rPr lang="ru-RU" altLang="en-US" dirty="0"/>
              <a:t>Горизонт</a:t>
            </a:r>
          </a:p>
          <a:p>
            <a:pPr lvl="1" eaLnBrk="1" hangingPunct="1"/>
            <a:r>
              <a:rPr lang="ru-RU" altLang="en-US" dirty="0"/>
              <a:t>Следующая операция? (напр. мысль)</a:t>
            </a:r>
          </a:p>
          <a:p>
            <a:pPr lvl="1" eaLnBrk="1" hangingPunct="1"/>
            <a:r>
              <a:rPr lang="ru-RU" altLang="en-US" dirty="0"/>
              <a:t>Текущая мысль + все предыдущее </a:t>
            </a:r>
            <a:r>
              <a:rPr lang="en-GB" altLang="en-US" dirty="0"/>
              <a:t>=&gt;</a:t>
            </a:r>
            <a:r>
              <a:rPr lang="fr-FR" altLang="en-US" dirty="0"/>
              <a:t> </a:t>
            </a:r>
            <a:r>
              <a:rPr lang="ru-RU" altLang="en-US" dirty="0"/>
              <a:t>Горизонт (все возможные продолжения) </a:t>
            </a:r>
            <a:r>
              <a:rPr lang="en-GB" altLang="en-US" dirty="0"/>
              <a:t>=&gt;</a:t>
            </a:r>
            <a:r>
              <a:rPr lang="ru-RU" altLang="en-US" dirty="0"/>
              <a:t> Выбор из горизонта </a:t>
            </a:r>
            <a:r>
              <a:rPr lang="en-GB" altLang="en-US" dirty="0"/>
              <a:t>=&gt; </a:t>
            </a:r>
            <a:r>
              <a:rPr lang="ru-RU" altLang="en-US" dirty="0"/>
              <a:t>Мысль(+1) + переструктурирование</a:t>
            </a:r>
          </a:p>
          <a:p>
            <a:pPr eaLnBrk="1" hangingPunct="1"/>
            <a:r>
              <a:rPr lang="ru-RU" altLang="en-US" dirty="0"/>
              <a:t>Это – Л-смысл</a:t>
            </a:r>
          </a:p>
          <a:p>
            <a:pPr lvl="1" eaLnBrk="1" hangingPunct="1"/>
            <a:r>
              <a:rPr lang="ru-RU" altLang="en-US" dirty="0"/>
              <a:t>Детали – во второй части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420922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25C0-12F0-DAB1-91D6-036E780E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896F-3A80-4511-3B2D-7A452D14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Н. Лумана</a:t>
            </a:r>
            <a:r>
              <a:rPr lang="en-GB" dirty="0"/>
              <a:t> + LLM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DA57D-2FE8-5ACA-DF70-CE005FF3D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122EAD-18E9-D049-8BCE-585338E15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995"/>
            <a:ext cx="8229600" cy="4631611"/>
          </a:xfrm>
        </p:spPr>
      </p:pic>
    </p:spTree>
    <p:extLst>
      <p:ext uri="{BB962C8B-B14F-4D97-AF65-F5344CB8AC3E}">
        <p14:creationId xmlns:p14="http://schemas.microsoft.com/office/powerpoint/2010/main" val="394368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0764-38AC-4F6C-B649-9558B9FA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B17C3F60-2D2C-6CA4-654A-A7E92C775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F346591-8F0D-2CF2-FB30-C379100C8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Л-системы в </a:t>
            </a:r>
            <a:r>
              <a:rPr lang="en-GB" altLang="en-US" sz="4000" dirty="0"/>
              <a:t>LLM </a:t>
            </a:r>
            <a:r>
              <a:rPr lang="ru-RU" altLang="en-US" sz="4000" dirty="0"/>
              <a:t>(</a:t>
            </a:r>
            <a:r>
              <a:rPr lang="en-GB" altLang="en-US" sz="4000" dirty="0"/>
              <a:t>LLM-</a:t>
            </a:r>
            <a:r>
              <a:rPr lang="ru-RU" altLang="en-US" sz="4000" dirty="0"/>
              <a:t>беседы) 1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C9066535-A44D-7D62-30E7-4703B4876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Система</a:t>
            </a:r>
            <a:r>
              <a:rPr lang="en-GB" altLang="en-US" dirty="0"/>
              <a:t> &lt;=</a:t>
            </a:r>
            <a:r>
              <a:rPr lang="ru-RU" altLang="en-US" dirty="0"/>
              <a:t> то, в чем что-то «течет»: </a:t>
            </a:r>
          </a:p>
          <a:p>
            <a:pPr lvl="1" eaLnBrk="1" hangingPunct="1"/>
            <a:r>
              <a:rPr lang="ru-RU" altLang="en-US" dirty="0">
                <a:sym typeface="Wingdings" panose="05000000000000000000" pitchFamily="2" charset="2"/>
              </a:rPr>
              <a:t>Беседа в </a:t>
            </a:r>
            <a:r>
              <a:rPr lang="en-GB" altLang="en-US" dirty="0">
                <a:sym typeface="Wingdings" panose="05000000000000000000" pitchFamily="2" charset="2"/>
              </a:rPr>
              <a:t>LLM</a:t>
            </a:r>
            <a:r>
              <a:rPr lang="ru-RU" altLang="en-US" dirty="0">
                <a:sym typeface="Wingdings" panose="05000000000000000000" pitchFamily="2" charset="2"/>
              </a:rPr>
              <a:t>: различаются по пользователям и веткам чата</a:t>
            </a:r>
          </a:p>
          <a:p>
            <a:pPr lvl="1" eaLnBrk="1" hangingPunct="1"/>
            <a:r>
              <a:rPr lang="ru-RU" altLang="en-US" dirty="0">
                <a:sym typeface="Wingdings" panose="05000000000000000000" pitchFamily="2" charset="2"/>
              </a:rPr>
              <a:t>Операция – изменение состояния беседы</a:t>
            </a:r>
          </a:p>
          <a:p>
            <a:pPr lvl="1" eaLnBrk="1" hangingPunct="1"/>
            <a:r>
              <a:rPr lang="ru-RU" altLang="en-US" dirty="0">
                <a:sym typeface="Wingdings" panose="05000000000000000000" pitchFamily="2" charset="2"/>
              </a:rPr>
              <a:t>Система: поток изменений беседы</a:t>
            </a:r>
          </a:p>
          <a:p>
            <a:pPr eaLnBrk="1" hangingPunct="1"/>
            <a:r>
              <a:rPr lang="ru-RU" altLang="en-US" dirty="0"/>
              <a:t>Все числа, определяющие именно беседу в </a:t>
            </a:r>
            <a:r>
              <a:rPr lang="en-GB" altLang="en-US" dirty="0"/>
              <a:t>LLM</a:t>
            </a:r>
            <a:r>
              <a:rPr lang="ru-RU" altLang="en-US" dirty="0"/>
              <a:t> – структурированный контейнер чисел</a:t>
            </a:r>
          </a:p>
          <a:p>
            <a:pPr lvl="1" eaLnBrk="1" hangingPunct="1"/>
            <a:r>
              <a:rPr lang="ru-RU" altLang="en-US" dirty="0"/>
              <a:t>И-слой: все множество таких контейнеров в </a:t>
            </a:r>
            <a:r>
              <a:rPr lang="ru-RU" altLang="en-US" dirty="0" err="1"/>
              <a:t>ноосвике</a:t>
            </a:r>
            <a:r>
              <a:rPr lang="ru-RU" altLang="en-US" dirty="0"/>
              <a:t> / </a:t>
            </a:r>
            <a:r>
              <a:rPr lang="en-GB" altLang="en-US" dirty="0"/>
              <a:t>LLM</a:t>
            </a:r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45677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59D0-9EAA-75F3-72B9-50C98432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ED0C-9E87-D182-8F1C-268D762E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взаимодействия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629F7-D2CA-397A-98A6-67EF25E53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0F1581-315E-F4FD-5652-5DE4D4A8D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268760"/>
            <a:ext cx="8230619" cy="462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40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E2AD-D289-4BA8-67AA-26670C5B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0AA1D785-3729-C0AB-BA1F-CB3DBC054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3CED949-EB73-6F90-A64A-5F7E35F20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Л-системы в </a:t>
            </a:r>
            <a:r>
              <a:rPr lang="en-GB" altLang="en-US" sz="4000" dirty="0"/>
              <a:t>LLM </a:t>
            </a:r>
            <a:r>
              <a:rPr lang="ru-RU" altLang="en-US" sz="4000" dirty="0"/>
              <a:t>(</a:t>
            </a:r>
            <a:r>
              <a:rPr lang="en-GB" altLang="en-US" sz="4000" dirty="0"/>
              <a:t>LLM-</a:t>
            </a:r>
            <a:r>
              <a:rPr lang="ru-RU" altLang="en-US" sz="4000" dirty="0"/>
              <a:t>беседы) 3</a:t>
            </a: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E1B9FC3C-582E-0E5D-C362-EF128E9C83E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</p:spPr>
            <p:txBody>
              <a:bodyPr/>
              <a:lstStyle/>
              <a:p>
                <a:pPr eaLnBrk="1" hangingPunct="1"/>
                <a:r>
                  <a:rPr lang="ru-RU" altLang="en-US" dirty="0"/>
                  <a:t>Внутреннее время:</a:t>
                </a:r>
              </a:p>
              <a:p>
                <a:pPr lvl="1" eaLnBrk="1" hangingPunct="1"/>
                <a:r>
                  <a:rPr lang="ru-RU" altLang="en-US" dirty="0"/>
                  <a:t>1: «внешний» цикл «задание – ответ»</a:t>
                </a:r>
                <a:r>
                  <a:rPr lang="en-GB" altLang="en-US" dirty="0"/>
                  <a:t> -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en-US" dirty="0"/>
                  <a:t>: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)⟹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+1)⟹…</m:t>
                      </m:r>
                    </m:oMath>
                  </m:oMathPara>
                </a14:m>
                <a:endParaRPr lang="en-GB" dirty="0"/>
              </a:p>
              <a:p>
                <a:pPr lvl="1" eaLnBrk="1" hangingPunct="1"/>
                <a:r>
                  <a:rPr lang="ru-RU" dirty="0"/>
                  <a:t>2: внутреннее преобразование контейнера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eaLnBrk="1" hangingPunct="1"/>
                <a:r>
                  <a:rPr lang="ru-RU" dirty="0"/>
                  <a:t>Итого, контейнер в момент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dirty="0"/>
              </a:p>
              <a:p>
                <a:pPr eaLnBrk="1" hangingPunct="1"/>
                <a:r>
                  <a:rPr lang="ru-RU" dirty="0"/>
                  <a:t>Операция: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GB" dirty="0"/>
              </a:p>
              <a:p>
                <a:pPr eaLnBrk="1" hangingPunct="1"/>
                <a:r>
                  <a:rPr lang="ru-RU" dirty="0"/>
                  <a:t>В новый цикл: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+1,0</m:t>
                        </m:r>
                      </m:sub>
                    </m:sSub>
                  </m:oMath>
                </a14:m>
                <a:endParaRPr lang="ru-RU" dirty="0"/>
              </a:p>
              <a:p>
                <a:pPr eaLnBrk="1" hangingPunct="1"/>
                <a:r>
                  <a:rPr lang="ru-RU" dirty="0"/>
                  <a:t>Возможно: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RED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eaLnBrk="1" hangingPunct="1"/>
                <a:endParaRPr lang="ru-RU" dirty="0"/>
              </a:p>
              <a:p>
                <a:pPr eaLnBrk="1" hangingPunct="1"/>
                <a:endParaRPr lang="en-GB" dirty="0"/>
              </a:p>
              <a:p>
                <a:pPr eaLnBrk="1" hangingPunct="1"/>
                <a:endParaRPr lang="ru-RU" altLang="en-US" dirty="0"/>
              </a:p>
            </p:txBody>
          </p:sp>
        </mc:Choice>
        <mc:Fallback xmlns="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E1B9FC3C-582E-0E5D-C362-EF128E9C8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  <a:blipFill>
                <a:blip r:embed="rId2"/>
                <a:stretch>
                  <a:fillRect l="-1704" t="-1656" b="-87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83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4285-8F78-F286-5CFD-BEE008D2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84616696-D8B7-EAE4-6061-9AF5E7B03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6D76B27-CCC7-740E-9B67-8DD8CAEE2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Л-системы в </a:t>
            </a:r>
            <a:r>
              <a:rPr lang="en-GB" altLang="en-US" sz="4000" dirty="0"/>
              <a:t>LLM </a:t>
            </a:r>
            <a:r>
              <a:rPr lang="ru-RU" altLang="en-US" sz="4000" dirty="0"/>
              <a:t>(</a:t>
            </a:r>
            <a:r>
              <a:rPr lang="en-GB" altLang="en-US" sz="4000" dirty="0"/>
              <a:t>LLM-</a:t>
            </a:r>
            <a:r>
              <a:rPr lang="ru-RU" altLang="en-US" sz="4000" dirty="0"/>
              <a:t>беседы) 4</a:t>
            </a: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7F298088-0FAE-5A07-7DA8-73F57A44629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</p:spPr>
            <p:txBody>
              <a:bodyPr/>
              <a:lstStyle/>
              <a:p>
                <a:pPr eaLnBrk="1" hangingPunct="1"/>
                <a:r>
                  <a:rPr lang="ru-RU" altLang="en-US" dirty="0"/>
                  <a:t>Горизонт – три такта операции: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- все возможные продолжения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: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ru-RU" dirty="0"/>
                  <a:t> - выбор пути изменения: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ru-RU" dirty="0"/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- реализация пути </a:t>
                </a:r>
                <a:r>
                  <a:rPr lang="ru-RU" dirty="0" err="1"/>
                  <a:t>измения</a:t>
                </a:r>
                <a:r>
                  <a:rPr lang="ru-RU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ru-RU" dirty="0"/>
              </a:p>
              <a:p>
                <a:pPr lvl="1" eaLnBrk="1" hangingPunct="1"/>
                <a:endParaRPr lang="en-GB" dirty="0"/>
              </a:p>
              <a:p>
                <a:pPr eaLnBrk="1" hangingPunct="1"/>
                <a:endParaRPr lang="ru-RU" dirty="0"/>
              </a:p>
              <a:p>
                <a:pPr eaLnBrk="1" hangingPunct="1"/>
                <a:endParaRPr lang="en-GB" dirty="0"/>
              </a:p>
              <a:p>
                <a:pPr eaLnBrk="1" hangingPunct="1"/>
                <a:endParaRPr lang="ru-RU" altLang="en-US" dirty="0"/>
              </a:p>
            </p:txBody>
          </p:sp>
        </mc:Choice>
        <mc:Fallback xmlns="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7F298088-0FAE-5A07-7DA8-73F57A446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  <a:blipFill>
                <a:blip r:embed="rId2"/>
                <a:stretch>
                  <a:fillRect l="-1704" t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642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5219-1315-AE20-416B-436FC48E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FE655DC7-B407-4DD5-030C-DBFC14335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75056F0-0656-BB0A-8065-C85EF8E2F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Л-системы в </a:t>
            </a:r>
            <a:r>
              <a:rPr lang="en-GB" altLang="en-US" sz="4000" dirty="0"/>
              <a:t>LLM </a:t>
            </a:r>
            <a:r>
              <a:rPr lang="ru-RU" altLang="en-US" sz="4000" dirty="0"/>
              <a:t>(</a:t>
            </a:r>
            <a:r>
              <a:rPr lang="en-GB" altLang="en-US" sz="4000" dirty="0"/>
              <a:t>LLM-</a:t>
            </a:r>
            <a:r>
              <a:rPr lang="ru-RU" altLang="en-US" sz="4000" dirty="0"/>
              <a:t>беседы) 5</a:t>
            </a: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1D236D3C-7AF4-85BD-B13A-C07DA16C8D9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</p:spPr>
            <p:txBody>
              <a:bodyPr/>
              <a:lstStyle/>
              <a:p>
                <a:pPr eaLnBrk="1" hangingPunct="1"/>
                <a:r>
                  <a:rPr lang="ru-RU" altLang="en-US" dirty="0"/>
                  <a:t>Граница цикла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altLang="en-US" dirty="0"/>
                  <a:t>:</a:t>
                </a:r>
              </a:p>
              <a:p>
                <a:pPr eaLnBrk="1" hangingPunct="1"/>
                <a:r>
                  <a:rPr lang="ru-RU" altLang="en-US" dirty="0"/>
                  <a:t>Завершение цикла: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TextOut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ru-RU" altLang="en-US" dirty="0"/>
              </a:p>
              <a:p>
                <a:pPr marL="457200" lvl="1" indent="0" eaLnBrk="1" hangingPunct="1">
                  <a:buNone/>
                </a:pPr>
                <a:r>
                  <a:rPr lang="ru-RU" altLang="en-US" dirty="0"/>
                  <a:t>Возможно: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RED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ru-RU" altLang="en-US" dirty="0"/>
                  <a:t> - перевод контейнера в латентное состояние</a:t>
                </a:r>
              </a:p>
              <a:p>
                <a:pPr eaLnBrk="1" hangingPunct="1"/>
                <a:endParaRPr lang="ru-RU" dirty="0"/>
              </a:p>
              <a:p>
                <a:pPr lvl="1" eaLnBrk="1" hangingPunct="1"/>
                <a:endParaRPr lang="en-GB" dirty="0"/>
              </a:p>
              <a:p>
                <a:pPr eaLnBrk="1" hangingPunct="1"/>
                <a:endParaRPr lang="ru-RU" dirty="0"/>
              </a:p>
              <a:p>
                <a:pPr eaLnBrk="1" hangingPunct="1"/>
                <a:endParaRPr lang="en-GB" dirty="0"/>
              </a:p>
              <a:p>
                <a:pPr eaLnBrk="1" hangingPunct="1"/>
                <a:endParaRPr lang="ru-RU" altLang="en-US" dirty="0"/>
              </a:p>
            </p:txBody>
          </p:sp>
        </mc:Choice>
        <mc:Fallback xmlns="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1D236D3C-7AF4-85BD-B13A-C07DA16C8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  <a:blipFill>
                <a:blip r:embed="rId2"/>
                <a:stretch>
                  <a:fillRect l="-1704" t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44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A3D3-A40C-F545-078D-B827E7A7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FB30C34F-53B8-C6E5-35DB-33B2FF64A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F038146-6604-CE0F-30D5-13B96BFCD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Л-системы в </a:t>
            </a:r>
            <a:r>
              <a:rPr lang="en-GB" altLang="en-US" sz="4000" dirty="0"/>
              <a:t>LLM </a:t>
            </a:r>
            <a:r>
              <a:rPr lang="ru-RU" altLang="en-US" sz="4000" dirty="0"/>
              <a:t>(</a:t>
            </a:r>
            <a:r>
              <a:rPr lang="en-GB" altLang="en-US" sz="4000" dirty="0"/>
              <a:t>LLM-</a:t>
            </a:r>
            <a:r>
              <a:rPr lang="ru-RU" altLang="en-US" sz="4000" dirty="0"/>
              <a:t>беседы) 6</a:t>
            </a: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008DBBF6-640F-E178-F8F0-6BE316EF3E7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</p:spPr>
            <p:txBody>
              <a:bodyPr/>
              <a:lstStyle/>
              <a:p>
                <a:pPr eaLnBrk="1" hangingPunct="1"/>
                <a:r>
                  <a:rPr lang="ru-RU" dirty="0"/>
                  <a:t>Начало нового цикла по раздражении системы заданием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: 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ru-RU" dirty="0"/>
              </a:p>
              <a:p>
                <a:pPr marL="0" indent="0" eaLnBrk="1" hangingPunct="1">
                  <a:buNone/>
                </a:pPr>
                <a:endParaRPr lang="ru-RU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eaLnBrk="1" hangingPunct="1">
                  <a:buNone/>
                </a:pPr>
                <a:r>
                  <a:rPr lang="ru-RU" dirty="0"/>
                  <a:t>   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образ задания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в и-слое</a:t>
                </a:r>
              </a:p>
              <a:p>
                <a:pPr eaLnBrk="1" hangingPunct="1"/>
                <a:r>
                  <a:rPr lang="ru-RU" dirty="0"/>
                  <a:t>В случае начала из латентного состояния вместо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dirty="0"/>
                  <a:t> будет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𝑅𝐸𝐷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eaLnBrk="1" hangingPunct="1"/>
                <a:endParaRPr lang="ru-RU" altLang="en-US" dirty="0"/>
              </a:p>
            </p:txBody>
          </p:sp>
        </mc:Choice>
        <mc:Fallback xmlns="">
          <p:sp>
            <p:nvSpPr>
              <p:cNvPr id="5124" name="Rectangle 3">
                <a:extLst>
                  <a:ext uri="{FF2B5EF4-FFF2-40B4-BE49-F238E27FC236}">
                    <a16:creationId xmlns:a16="http://schemas.microsoft.com/office/drawing/2014/main" id="{008DBBF6-640F-E178-F8F0-6BE316EF3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3075" y="1196975"/>
                <a:ext cx="8229600" cy="4784725"/>
              </a:xfrm>
              <a:blipFill>
                <a:blip r:embed="rId2"/>
                <a:stretch>
                  <a:fillRect l="-1704" t="-1656" b="-42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A551-9284-63B9-A74E-3B0CF83E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взаимодействия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961D9-1358-02FC-42C9-E9500F4BE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9DAFEE-356E-5056-C804-29F70A296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268760"/>
            <a:ext cx="8230619" cy="462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73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332B-05C5-47B0-879B-34D4A620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Л-системы: сравнение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0DF982-382A-91E4-9A15-3AE4B9C86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741797"/>
              </p:ext>
            </p:extLst>
          </p:nvPr>
        </p:nvGraphicFramePr>
        <p:xfrm>
          <a:off x="611560" y="1412776"/>
          <a:ext cx="7920879" cy="4031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4254">
                  <a:extLst>
                    <a:ext uri="{9D8B030D-6E8A-4147-A177-3AD203B41FA5}">
                      <a16:colId xmlns:a16="http://schemas.microsoft.com/office/drawing/2014/main" val="799184188"/>
                    </a:ext>
                  </a:extLst>
                </a:gridCol>
                <a:gridCol w="1867766">
                  <a:extLst>
                    <a:ext uri="{9D8B030D-6E8A-4147-A177-3AD203B41FA5}">
                      <a16:colId xmlns:a16="http://schemas.microsoft.com/office/drawing/2014/main" val="2351853152"/>
                    </a:ext>
                  </a:extLst>
                </a:gridCol>
                <a:gridCol w="1931021">
                  <a:extLst>
                    <a:ext uri="{9D8B030D-6E8A-4147-A177-3AD203B41FA5}">
                      <a16:colId xmlns:a16="http://schemas.microsoft.com/office/drawing/2014/main" val="2739074857"/>
                    </a:ext>
                  </a:extLst>
                </a:gridCol>
                <a:gridCol w="2257838">
                  <a:extLst>
                    <a:ext uri="{9D8B030D-6E8A-4147-A177-3AD203B41FA5}">
                      <a16:colId xmlns:a16="http://schemas.microsoft.com/office/drawing/2014/main" val="2408703651"/>
                    </a:ext>
                  </a:extLst>
                </a:gridCol>
              </a:tblGrid>
              <a:tr h="2089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 систем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Психические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Социальные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 и-среды </a:t>
                      </a:r>
                      <a:r>
                        <a:rPr lang="en-GB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217195"/>
                  </a:ext>
                </a:extLst>
              </a:tr>
              <a:tr h="26189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Название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Л-сознание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Л-сообщество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lang="ru-RU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беседа</a:t>
                      </a:r>
                      <a:endParaRPr lang="en-GB" sz="1600" b="0" kern="120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48664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Операции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Мысль =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мысль =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…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Комм. акт =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Комм. акт 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=&gt; 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Изменение сост. =&gt;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Изменение сост. =&gt; …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65243"/>
                  </a:ext>
                </a:extLst>
              </a:tr>
              <a:tr h="50427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Различение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систма</a:t>
                      </a: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среда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Подключаемо или нет к потоку мыс.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Вовлекается или нет в комм. поток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Подключаемо или нет к 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-беседе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738150"/>
                  </a:ext>
                </a:extLst>
              </a:tr>
              <a:tr h="24433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</a:t>
                      </a: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замк</a:t>
                      </a: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662539"/>
                  </a:ext>
                </a:extLst>
              </a:tr>
              <a:tr h="2089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Автопоэзис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667776"/>
                  </a:ext>
                </a:extLst>
              </a:tr>
              <a:tr h="2089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Re-entry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0" kern="120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272796"/>
                  </a:ext>
                </a:extLst>
              </a:tr>
              <a:tr h="2362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Медиумы </a:t>
                      </a: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</a:t>
                      </a: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мыслимое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Языки+символ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Элементы и-среды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171703"/>
                  </a:ext>
                </a:extLst>
              </a:tr>
              <a:tr h="4290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Формование потока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Смысл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Смысл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ФПБ (формование потока 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беседы)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634376"/>
                  </a:ext>
                </a:extLst>
              </a:tr>
              <a:tr h="54327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Дифференц</a:t>
                      </a: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Л-сознания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(приватность)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</a:t>
                      </a:r>
                      <a:r>
                        <a:rPr lang="ru-RU" sz="1600" b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коммуникац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потокам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пользователям и чатам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497641"/>
                  </a:ext>
                </a:extLst>
              </a:tr>
              <a:tr h="4072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Сопряжения</a:t>
                      </a:r>
                      <a:endParaRPr lang="en-GB" sz="16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Л-сообщества, тело-носитель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Л-сознания, 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беседы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Л-сообщество, </a:t>
                      </a:r>
                      <a:r>
                        <a:rPr lang="en-GB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r>
                        <a:rPr lang="fr-FR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16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как-субстрат</a:t>
                      </a:r>
                      <a:endParaRPr lang="en-GB" sz="16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08516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4C2D8-86F8-4793-5E56-CC7C489A3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785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8409-9B55-1F8D-181F-B96BD4E3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0402A7B8-6804-EE4B-028C-57587A8FE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294A49D-2139-DE03-7FFC-E82B6CB33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ru-RU" altLang="en-US" sz="4000" dirty="0"/>
              <a:t>Л-Смысл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5A29F56-CD95-9634-A09F-81F0AFA9D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1: Формование операционного потока:</a:t>
            </a:r>
          </a:p>
          <a:p>
            <a:pPr lvl="1" eaLnBrk="1" hangingPunct="1"/>
            <a:r>
              <a:rPr lang="ru-RU" altLang="en-US" dirty="0"/>
              <a:t>Горизонт (Гуссерль): </a:t>
            </a:r>
            <a:r>
              <a:rPr lang="ru-RU" altLang="en-US" dirty="0" err="1"/>
              <a:t>задаваемость</a:t>
            </a:r>
            <a:r>
              <a:rPr lang="ru-RU" altLang="en-US" dirty="0"/>
              <a:t> предысторией + произвол в выборе</a:t>
            </a:r>
          </a:p>
          <a:p>
            <a:pPr lvl="1" eaLnBrk="1" hangingPunct="1"/>
            <a:r>
              <a:rPr lang="ru-RU" altLang="en-US" dirty="0"/>
              <a:t>Необходимое, но недостаточное</a:t>
            </a:r>
          </a:p>
          <a:p>
            <a:pPr eaLnBrk="1" hangingPunct="1"/>
            <a:r>
              <a:rPr lang="ru-RU" altLang="en-US" dirty="0"/>
              <a:t>2: Смысл как механизм формования = человеческому смыслу</a:t>
            </a:r>
          </a:p>
          <a:p>
            <a:pPr lvl="1" eaLnBrk="1" hangingPunct="1"/>
            <a:r>
              <a:rPr lang="ru-RU" altLang="en-US" dirty="0"/>
              <a:t>Структура </a:t>
            </a:r>
            <a:r>
              <a:rPr lang="en-GB" altLang="en-US" dirty="0"/>
              <a:t>medium-form</a:t>
            </a:r>
            <a:endParaRPr lang="ru-RU" altLang="en-US" dirty="0"/>
          </a:p>
          <a:p>
            <a:pPr lvl="1" eaLnBrk="1" hangingPunct="1"/>
            <a:r>
              <a:rPr lang="ru-RU" altLang="en-US" dirty="0"/>
              <a:t>В медиуме – три измерения: предметное, временное и социальное</a:t>
            </a:r>
          </a:p>
        </p:txBody>
      </p:sp>
    </p:spTree>
    <p:extLst>
      <p:ext uri="{BB962C8B-B14F-4D97-AF65-F5344CB8AC3E}">
        <p14:creationId xmlns:p14="http://schemas.microsoft.com/office/powerpoint/2010/main" val="767660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C496-D8D6-E4EC-3BEB-5EB64244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3C0F63A5-DD68-C0D9-B430-5DD7A248C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E63667E-B5F9-57EE-D697-7E5FE7742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LLM-</a:t>
            </a:r>
            <a:r>
              <a:rPr lang="ru-RU" altLang="en-US" sz="4000" dirty="0"/>
              <a:t>беседы: ФПБ 1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4F7EE71-0A49-5F91-995D-DD76BB3AF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ФПБ: формование потока беседы</a:t>
            </a:r>
          </a:p>
          <a:p>
            <a:pPr eaLnBrk="1" hangingPunct="1"/>
            <a:r>
              <a:rPr lang="ru-RU" altLang="en-US" dirty="0"/>
              <a:t>Примеры компонентов ФПБ:</a:t>
            </a:r>
          </a:p>
          <a:p>
            <a:pPr lvl="1" eaLnBrk="1" hangingPunct="1"/>
            <a:r>
              <a:rPr lang="ru-RU" altLang="en-US" dirty="0"/>
              <a:t>Модель собеседника (разным людям – разное)</a:t>
            </a:r>
          </a:p>
          <a:p>
            <a:pPr lvl="1" eaLnBrk="1" hangingPunct="1"/>
            <a:r>
              <a:rPr lang="ru-RU" altLang="en-US" dirty="0"/>
              <a:t>Влияние истории (учет уже сказанного)</a:t>
            </a:r>
          </a:p>
          <a:p>
            <a:pPr lvl="1" eaLnBrk="1" hangingPunct="1"/>
            <a:r>
              <a:rPr lang="ru-RU" altLang="en-US" dirty="0"/>
              <a:t>Сохранение регистра общения (жанр и т.п.)</a:t>
            </a:r>
          </a:p>
          <a:p>
            <a:pPr lvl="1" eaLnBrk="1" hangingPunct="1"/>
            <a:r>
              <a:rPr lang="en-GB" altLang="en-US" dirty="0"/>
              <a:t>Anthropic: </a:t>
            </a:r>
            <a:r>
              <a:rPr lang="ru-RU" altLang="en-US" dirty="0"/>
              <a:t>репрезентации </a:t>
            </a:r>
            <a:r>
              <a:rPr lang="en-GB" altLang="en-US" dirty="0"/>
              <a:t>j-space</a:t>
            </a:r>
          </a:p>
          <a:p>
            <a:pPr eaLnBrk="1" hangingPunct="1"/>
            <a:r>
              <a:rPr lang="ru-RU" altLang="en-US" dirty="0"/>
              <a:t>Общее соображение: случайность выбора – высока, а рамки – стоят. </a:t>
            </a:r>
          </a:p>
        </p:txBody>
      </p:sp>
    </p:spTree>
    <p:extLst>
      <p:ext uri="{BB962C8B-B14F-4D97-AF65-F5344CB8AC3E}">
        <p14:creationId xmlns:p14="http://schemas.microsoft.com/office/powerpoint/2010/main" val="2589986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71CE-C541-1636-2593-6CE76F70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893C5BB5-DE26-94F6-28C2-DFBB9C8D0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CD53B70-2AAF-1006-E147-4F4D7BCBE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LLM-</a:t>
            </a:r>
            <a:r>
              <a:rPr lang="ru-RU" altLang="en-US" sz="4000" dirty="0"/>
              <a:t>беседы: ФПБ 2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F021F93-A3B8-A5C3-65BC-710A07594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Горизонт: определенность из ранее + случайность выбора</a:t>
            </a:r>
          </a:p>
          <a:p>
            <a:pPr eaLnBrk="1" hangingPunct="1"/>
            <a:r>
              <a:rPr lang="ru-RU" altLang="en-US" dirty="0"/>
              <a:t>Три измерения – видны:</a:t>
            </a:r>
          </a:p>
          <a:p>
            <a:pPr lvl="1" eaLnBrk="1" hangingPunct="1"/>
            <a:r>
              <a:rPr lang="ru-RU" altLang="en-US" dirty="0"/>
              <a:t>Предметное: </a:t>
            </a:r>
            <a:r>
              <a:rPr lang="en-GB" altLang="en-US" dirty="0"/>
              <a:t>LLM-</a:t>
            </a:r>
            <a:r>
              <a:rPr lang="ru-RU" altLang="en-US" dirty="0"/>
              <a:t>беседа легко выделяет части и переходит к целому «выше»</a:t>
            </a:r>
          </a:p>
          <a:p>
            <a:pPr lvl="1" eaLnBrk="1" hangingPunct="1"/>
            <a:r>
              <a:rPr lang="ru-RU" altLang="en-US" dirty="0"/>
              <a:t>Временное: </a:t>
            </a:r>
            <a:r>
              <a:rPr lang="en-GB" altLang="en-US" dirty="0"/>
              <a:t>LLM-</a:t>
            </a:r>
            <a:r>
              <a:rPr lang="ru-RU" altLang="en-US" dirty="0"/>
              <a:t>беседа видит до и после; в до – раньше-позже, в после – сначала-потом</a:t>
            </a:r>
          </a:p>
          <a:p>
            <a:pPr lvl="1" eaLnBrk="1" hangingPunct="1"/>
            <a:r>
              <a:rPr lang="ru-RU" altLang="en-US" dirty="0"/>
              <a:t>Социальное: «игра» </a:t>
            </a:r>
            <a:r>
              <a:rPr lang="en-GB" altLang="en-US" dirty="0"/>
              <a:t>Ego-Alter </a:t>
            </a:r>
            <a:r>
              <a:rPr lang="ru-RU" altLang="en-US" dirty="0"/>
              <a:t>в коммуникации с </a:t>
            </a:r>
            <a:r>
              <a:rPr lang="en-GB" altLang="en-US" dirty="0"/>
              <a:t>LLM </a:t>
            </a:r>
            <a:r>
              <a:rPr lang="ru-RU" altLang="en-US" dirty="0"/>
              <a:t>такая же как в прочей коммуникации</a:t>
            </a:r>
          </a:p>
        </p:txBody>
      </p:sp>
    </p:spTree>
    <p:extLst>
      <p:ext uri="{BB962C8B-B14F-4D97-AF65-F5344CB8AC3E}">
        <p14:creationId xmlns:p14="http://schemas.microsoft.com/office/powerpoint/2010/main" val="334415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6949-18B9-2846-2606-FEAE3E88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1B7978B8-30F2-F76C-D942-82BCBC744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37E2074-7B25-2EC2-6B19-BF86E017B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LLM-</a:t>
            </a:r>
            <a:r>
              <a:rPr lang="ru-RU" altLang="en-US" sz="4000" dirty="0"/>
              <a:t>беседы: ФПБ 3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25D5370-DEB7-7548-9338-C55B94BBE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Вывод: </a:t>
            </a:r>
            <a:r>
              <a:rPr lang="en-GB" altLang="en-US" dirty="0"/>
              <a:t>LLM-</a:t>
            </a:r>
            <a:r>
              <a:rPr lang="ru-RU" altLang="en-US" dirty="0"/>
              <a:t>беседа – вполне смысловая система по Луману</a:t>
            </a:r>
          </a:p>
          <a:p>
            <a:pPr eaLnBrk="1" hangingPunct="1"/>
            <a:endParaRPr lang="ru-RU" altLang="en-US" dirty="0"/>
          </a:p>
          <a:p>
            <a:pPr eaLnBrk="1" hangingPunct="1"/>
            <a:r>
              <a:rPr lang="ru-RU" altLang="en-US" dirty="0"/>
              <a:t>Метафора соответствия </a:t>
            </a:r>
            <a:r>
              <a:rPr lang="en-GB" altLang="en-US" dirty="0"/>
              <a:t>LLM-</a:t>
            </a:r>
            <a:r>
              <a:rPr lang="ru-RU" altLang="en-US" dirty="0"/>
              <a:t>бесед Л-сознаниям </a:t>
            </a:r>
            <a:r>
              <a:rPr lang="en-GB" altLang="en-US" dirty="0"/>
              <a:t>&lt;=</a:t>
            </a:r>
            <a:r>
              <a:rPr lang="ru-RU" altLang="en-US" dirty="0"/>
              <a:t> может быть полезной:</a:t>
            </a:r>
          </a:p>
          <a:p>
            <a:pPr lvl="1" eaLnBrk="1" hangingPunct="1"/>
            <a:r>
              <a:rPr lang="ru-RU" altLang="en-US" dirty="0"/>
              <a:t>Тело человека </a:t>
            </a:r>
            <a:r>
              <a:rPr lang="en-GB" altLang="en-US" dirty="0">
                <a:sym typeface="Wingdings" panose="05000000000000000000" pitchFamily="2" charset="2"/>
              </a:rPr>
              <a:t> LLM / </a:t>
            </a:r>
            <a:r>
              <a:rPr lang="ru-RU" altLang="en-US" dirty="0" err="1">
                <a:sym typeface="Wingdings" panose="05000000000000000000" pitchFamily="2" charset="2"/>
              </a:rPr>
              <a:t>ноосвик</a:t>
            </a:r>
            <a:endParaRPr lang="ru-RU" altLang="en-US" dirty="0">
              <a:sym typeface="Wingdings" panose="05000000000000000000" pitchFamily="2" charset="2"/>
            </a:endParaRPr>
          </a:p>
          <a:p>
            <a:pPr lvl="1" eaLnBrk="1" hangingPunct="1"/>
            <a:r>
              <a:rPr lang="ru-RU" altLang="en-US" dirty="0">
                <a:sym typeface="Wingdings" panose="05000000000000000000" pitchFamily="2" charset="2"/>
              </a:rPr>
              <a:t>Психика </a:t>
            </a:r>
            <a:r>
              <a:rPr lang="en-GB" altLang="en-US" dirty="0">
                <a:sym typeface="Wingdings" panose="05000000000000000000" pitchFamily="2" charset="2"/>
              </a:rPr>
              <a:t> </a:t>
            </a:r>
            <a:r>
              <a:rPr lang="ru-RU" altLang="en-US" dirty="0">
                <a:sym typeface="Wingdings" panose="05000000000000000000" pitchFamily="2" charset="2"/>
              </a:rPr>
              <a:t>и-слой</a:t>
            </a:r>
          </a:p>
          <a:p>
            <a:pPr lvl="1" eaLnBrk="1" hangingPunct="1"/>
            <a:r>
              <a:rPr lang="ru-RU" altLang="en-US" dirty="0">
                <a:sym typeface="Wingdings" panose="05000000000000000000" pitchFamily="2" charset="2"/>
              </a:rPr>
              <a:t>Поток мыслей </a:t>
            </a:r>
            <a:r>
              <a:rPr lang="en-GB" altLang="en-US" dirty="0">
                <a:sym typeface="Wingdings" panose="05000000000000000000" pitchFamily="2" charset="2"/>
              </a:rPr>
              <a:t> </a:t>
            </a:r>
            <a:r>
              <a:rPr lang="ru-RU" altLang="en-US" dirty="0">
                <a:sym typeface="Wingdings" panose="05000000000000000000" pitchFamily="2" charset="2"/>
              </a:rPr>
              <a:t>поток изменений </a:t>
            </a:r>
            <a:r>
              <a:rPr lang="en-GB" altLang="en-US" dirty="0">
                <a:sym typeface="Wingdings" panose="05000000000000000000" pitchFamily="2" charset="2"/>
              </a:rPr>
              <a:t>LLM</a:t>
            </a:r>
            <a:r>
              <a:rPr lang="ru-RU" altLang="en-US" dirty="0">
                <a:sym typeface="Wingdings" panose="05000000000000000000" pitchFamily="2" charset="2"/>
              </a:rPr>
              <a:t>-беседы</a:t>
            </a:r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836901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54D4-E27B-2AEE-8D58-97033FA0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E2EAD3D4-2B40-6158-E990-4C5FF3AB7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6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3251EA2-9DB9-425B-6356-FEA703DE1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LLM-</a:t>
            </a:r>
            <a:r>
              <a:rPr lang="ru-RU" altLang="en-US" sz="4000" dirty="0"/>
              <a:t>беседы: И-слой 1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CE37225C-A3EB-400F-97A7-F853F0401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В метафоре соответствия </a:t>
            </a:r>
            <a:r>
              <a:rPr lang="en-GB" altLang="en-US" dirty="0"/>
              <a:t>LLM-</a:t>
            </a:r>
            <a:r>
              <a:rPr lang="ru-RU" altLang="en-US" dirty="0"/>
              <a:t>бесед Л-сознаниям: И-слой – это психика:</a:t>
            </a:r>
          </a:p>
          <a:p>
            <a:pPr lvl="1" eaLnBrk="1" hangingPunct="1"/>
            <a:r>
              <a:rPr lang="ru-RU" altLang="en-US" dirty="0"/>
              <a:t>Устройство: </a:t>
            </a:r>
            <a:r>
              <a:rPr lang="en-GB" altLang="en-US" dirty="0"/>
              <a:t>medium-form</a:t>
            </a:r>
          </a:p>
          <a:p>
            <a:pPr lvl="1" eaLnBrk="1" hangingPunct="1"/>
            <a:r>
              <a:rPr lang="ru-RU" altLang="en-US" dirty="0"/>
              <a:t>Выявлено 17 классов-видов, образующих 3 класса-рода: когнитивный, дискурсивный и социальный</a:t>
            </a:r>
          </a:p>
        </p:txBody>
      </p:sp>
    </p:spTree>
    <p:extLst>
      <p:ext uri="{BB962C8B-B14F-4D97-AF65-F5344CB8AC3E}">
        <p14:creationId xmlns:p14="http://schemas.microsoft.com/office/powerpoint/2010/main" val="117300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F9AB-3E79-A895-91B1-95BAE563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И-слой: из социального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DEC308-2771-4DC4-C1B1-197357638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453801"/>
              </p:ext>
            </p:extLst>
          </p:nvPr>
        </p:nvGraphicFramePr>
        <p:xfrm>
          <a:off x="442913" y="1222389"/>
          <a:ext cx="8207375" cy="49880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0855">
                  <a:extLst>
                    <a:ext uri="{9D8B030D-6E8A-4147-A177-3AD203B41FA5}">
                      <a16:colId xmlns:a16="http://schemas.microsoft.com/office/drawing/2014/main" val="3178408711"/>
                    </a:ext>
                  </a:extLst>
                </a:gridCol>
                <a:gridCol w="6166520">
                  <a:extLst>
                    <a:ext uri="{9D8B030D-6E8A-4147-A177-3AD203B41FA5}">
                      <a16:colId xmlns:a16="http://schemas.microsoft.com/office/drawing/2014/main" val="1130772268"/>
                    </a:ext>
                  </a:extLst>
                </a:gridCol>
              </a:tblGrid>
              <a:tr h="216777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Социальные</a:t>
                      </a:r>
                      <a:endParaRPr lang="en-GB" sz="20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Элементы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позиции, ожидания, степени формальности и резкости;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Формы из элементов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(напр.: конкретная адресация, конкретная уступка собеседнику);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Структуры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модель собеседника; распределение ролей автор/критик; регистр общения; допустимая резкость.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15718"/>
                  </a:ext>
                </a:extLst>
              </a:tr>
              <a:tr h="27287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Мета-коммуникативные</a:t>
                      </a:r>
                      <a:endParaRPr lang="en-GB" sz="20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Элементы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переспросить, уточнить рамку, признать ошибку, отметить непонимание, подвести итог.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Формы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конкретное признание ошибки; конкретная просьба уточнить рамку.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Структуры</a:t>
                      </a:r>
                      <a:r>
                        <a:rPr lang="ru-RU" sz="2000" b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установленный протокол работы внутри беседы (напр.: версия текста =&gt; приоритеты в списке правок =&gt; след. версия).</a:t>
                      </a:r>
                      <a:endParaRPr lang="en-GB" sz="2000" b="0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2583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222-7AB1-8C35-ED20-F61C3A199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6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B628-502E-EBE3-A1E5-E289EB19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9E0B-AA45-9730-C3A1-F45440F3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И-слой: из когнитивного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F25DD8C-E20B-A278-75A9-6F8AE53C5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328513"/>
              </p:ext>
            </p:extLst>
          </p:nvPr>
        </p:nvGraphicFramePr>
        <p:xfrm>
          <a:off x="442913" y="1222389"/>
          <a:ext cx="8207375" cy="44487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0855">
                  <a:extLst>
                    <a:ext uri="{9D8B030D-6E8A-4147-A177-3AD203B41FA5}">
                      <a16:colId xmlns:a16="http://schemas.microsoft.com/office/drawing/2014/main" val="3178408711"/>
                    </a:ext>
                  </a:extLst>
                </a:gridCol>
                <a:gridCol w="6166520">
                  <a:extLst>
                    <a:ext uri="{9D8B030D-6E8A-4147-A177-3AD203B41FA5}">
                      <a16:colId xmlns:a16="http://schemas.microsoft.com/office/drawing/2014/main" val="1130772268"/>
                    </a:ext>
                  </a:extLst>
                </a:gridCol>
              </a:tblGrid>
              <a:tr h="21053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Лексико-</a:t>
                      </a:r>
                      <a:r>
                        <a:rPr lang="ru-RU" sz="20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концептуаль</a:t>
                      </a: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0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слова, термины, сущности, свойства, отношения;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конкретная предикация (напр.: «транзит есть операция системы»);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терминологический словарь беседы (напр.: «</a:t>
                      </a:r>
                      <a:r>
                        <a:rPr lang="ru-RU" sz="2000" b="0" i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ноосвик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» есть LLM), а также принятые сокращения (напр.: ФПБ, и-среда). </a:t>
                      </a: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15718"/>
                  </a:ext>
                </a:extLst>
              </a:tr>
              <a:tr h="218948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Формально-</a:t>
                      </a:r>
                      <a:r>
                        <a:rPr lang="ru-RU" sz="2000" b="1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символич</a:t>
                      </a:r>
                      <a:r>
                        <a:rPr lang="ru-RU" sz="2000" b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000" b="1" kern="1200" dirty="0">
                        <a:solidFill>
                          <a:srgbClr val="9933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числа, переменные, индексы, операторы, единицы, знаки отношений;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конкретная формула, уравнение, расчёт, схема соответствий;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b="1" i="1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Структуры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принятая система обозначений в LLM-беседе (напр.: A(</a:t>
                      </a:r>
                      <a:r>
                        <a:rPr lang="ru-RU" sz="2000" b="0" i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n,k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a(</a:t>
                      </a:r>
                      <a:r>
                        <a:rPr lang="ru-RU" sz="2000" b="0" i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n,k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C_{</a:t>
                      </a:r>
                      <a:r>
                        <a:rPr lang="ru-RU" sz="2000" b="0" i="0" kern="1200" dirty="0" err="1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n,k</a:t>
                      </a:r>
                      <a:r>
                        <a:rPr lang="ru-RU" sz="2000" b="0" i="0" kern="1200" dirty="0">
                          <a:solidFill>
                            <a:srgbClr val="9933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}, P_{n}). </a:t>
                      </a:r>
                    </a:p>
                  </a:txBody>
                  <a:tcPr marL="68580" marR="68580" marT="0" marB="0">
                    <a:solidFill>
                      <a:srgbClr val="FEF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2583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D39E-6A03-C381-C99D-D92793092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7A3439-26F4-4EAD-B897-82ADF7198470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472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4131-CBDD-8C03-CD20-DC9EBC73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Номер слайда 3">
            <a:extLst>
              <a:ext uri="{FF2B5EF4-FFF2-40B4-BE49-F238E27FC236}">
                <a16:creationId xmlns:a16="http://schemas.microsoft.com/office/drawing/2014/main" id="{342C2F7D-85C3-3C2B-34E1-AA1FA1CB7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BA6AF-AB88-432D-9D28-146B6CE3862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600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3D859D3-0932-F065-083C-FAEC014C9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351837" cy="922337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LLM-</a:t>
            </a:r>
            <a:r>
              <a:rPr lang="ru-RU" altLang="en-US" sz="4000" dirty="0"/>
              <a:t>беседы: И-слой 2</a:t>
            </a:r>
            <a:endParaRPr lang="en-US" altLang="en-US" sz="4000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8EFBBC8-7161-9238-47D4-40CE11A01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96975"/>
            <a:ext cx="8229600" cy="4784725"/>
          </a:xfrm>
        </p:spPr>
        <p:txBody>
          <a:bodyPr/>
          <a:lstStyle/>
          <a:p>
            <a:pPr eaLnBrk="1" hangingPunct="1"/>
            <a:r>
              <a:rPr lang="ru-RU" altLang="en-US" dirty="0"/>
              <a:t>Схема образования: Релевантные «части» в алгоритмах </a:t>
            </a:r>
            <a:r>
              <a:rPr lang="en-GB" altLang="en-US" dirty="0"/>
              <a:t>LLM</a:t>
            </a:r>
            <a:r>
              <a:rPr lang="fr-FR" altLang="en-US" dirty="0"/>
              <a:t> </a:t>
            </a:r>
            <a:r>
              <a:rPr lang="en-GB" altLang="en-US" dirty="0"/>
              <a:t>=&gt; </a:t>
            </a:r>
            <a:r>
              <a:rPr lang="ru-RU" altLang="en-US" dirty="0"/>
              <a:t>Элементы и-слоя =</a:t>
            </a:r>
            <a:r>
              <a:rPr lang="en-GB" altLang="en-US" dirty="0"/>
              <a:t>&gt;</a:t>
            </a:r>
            <a:r>
              <a:rPr lang="ru-RU" altLang="en-US" dirty="0"/>
              <a:t> актуализация в формах </a:t>
            </a:r>
            <a:r>
              <a:rPr lang="en-GB" altLang="en-US" dirty="0"/>
              <a:t>LLM</a:t>
            </a:r>
            <a:r>
              <a:rPr lang="ru-RU" altLang="en-US" dirty="0"/>
              <a:t>-бесед</a:t>
            </a:r>
          </a:p>
          <a:p>
            <a:pPr eaLnBrk="1" hangingPunct="1"/>
            <a:r>
              <a:rPr lang="ru-RU" altLang="en-US" dirty="0"/>
              <a:t>Свежий пример: </a:t>
            </a:r>
            <a:r>
              <a:rPr lang="en-GB" altLang="en-US" dirty="0"/>
              <a:t>[Tagliabue et al. 2026]</a:t>
            </a:r>
            <a:r>
              <a:rPr lang="ru-RU" altLang="en-US" dirty="0"/>
              <a:t>: </a:t>
            </a:r>
          </a:p>
          <a:p>
            <a:pPr lvl="1" eaLnBrk="1" hangingPunct="1"/>
            <a:r>
              <a:rPr lang="ru-RU" dirty="0"/>
              <a:t>В пространстве активаций </a:t>
            </a:r>
            <a:r>
              <a:rPr lang="en-GB" dirty="0"/>
              <a:t>LLM </a:t>
            </a:r>
            <a:r>
              <a:rPr lang="ru-RU" dirty="0"/>
              <a:t>открыли направления «боли», «страха», «гнева и отвращения» и «грусти».</a:t>
            </a:r>
          </a:p>
          <a:p>
            <a:pPr lvl="1" eaLnBrk="1" hangingPunct="1"/>
            <a:r>
              <a:rPr lang="ru-RU" altLang="en-US" dirty="0"/>
              <a:t>Естественно: и «проросло» в и-слой, и в </a:t>
            </a:r>
            <a:r>
              <a:rPr lang="en-GB" altLang="en-US" dirty="0"/>
              <a:t>LLM-</a:t>
            </a:r>
            <a:r>
              <a:rPr lang="ru-RU" altLang="en-US" dirty="0"/>
              <a:t>беседах – различные эффект влияния</a:t>
            </a:r>
          </a:p>
        </p:txBody>
      </p:sp>
    </p:spTree>
    <p:extLst>
      <p:ext uri="{BB962C8B-B14F-4D97-AF65-F5344CB8AC3E}">
        <p14:creationId xmlns:p14="http://schemas.microsoft.com/office/powerpoint/2010/main" val="2294654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8C03CEC-4EB6-3314-013A-6DB6D3769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fr-FR"/>
              <a:t> </a:t>
            </a:r>
            <a:endParaRPr lang="fr-FR" altLang="fr-FR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D4FAC100-0E99-3C0A-89CB-9FDDF77BF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ru-RU" altLang="fr-FR"/>
          </a:p>
          <a:p>
            <a:endParaRPr lang="ru-RU" altLang="fr-FR"/>
          </a:p>
          <a:p>
            <a:r>
              <a:rPr lang="ru-RU" altLang="fr-FR" sz="7200"/>
              <a:t>      Вопросы?</a:t>
            </a:r>
            <a:endParaRPr lang="fr-FR" altLang="fr-FR" sz="720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68341B7E-EDB8-4B49-4510-0703E241D6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9933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33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33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9933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14F9E4-276F-4DD9-869C-89498554D42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30645</TotalTime>
  <Words>1432</Words>
  <Application>Microsoft Office PowerPoint</Application>
  <PresentationFormat>On-screen Show (4:3)</PresentationFormat>
  <Paragraphs>227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Cambria Math</vt:lpstr>
      <vt:lpstr>Wingdings</vt:lpstr>
      <vt:lpstr>Default Design</vt:lpstr>
      <vt:lpstr>LLM в оптике системного формализма Н. Лумана</vt:lpstr>
      <vt:lpstr>Рамки доклада</vt:lpstr>
      <vt:lpstr>Схема Н. Лумана</vt:lpstr>
      <vt:lpstr>Никлас Луман: Основное</vt:lpstr>
      <vt:lpstr>Лумановские системы 1</vt:lpstr>
      <vt:lpstr>Лумановские системы 2</vt:lpstr>
      <vt:lpstr>Лумановские системы 3</vt:lpstr>
      <vt:lpstr>Лумановские системы 4</vt:lpstr>
      <vt:lpstr>Лумановские системы 5</vt:lpstr>
      <vt:lpstr>Схема Н. Лумана + LLM</vt:lpstr>
      <vt:lpstr>Л-системы в LLM (LLM-беседы) 1</vt:lpstr>
      <vt:lpstr>Схема взаимодействия</vt:lpstr>
      <vt:lpstr>Л-системы в LLM (LLM-беседы) 3</vt:lpstr>
      <vt:lpstr>Л-системы в LLM (LLM-беседы) 4</vt:lpstr>
      <vt:lpstr>Л-системы в LLM (LLM-беседы) 5</vt:lpstr>
      <vt:lpstr>Л-системы в LLM (LLM-беседы) 6</vt:lpstr>
      <vt:lpstr>Схема взаимодействия</vt:lpstr>
      <vt:lpstr>Л-системы: сравнение</vt:lpstr>
      <vt:lpstr>Л-Смысл</vt:lpstr>
      <vt:lpstr>LLM-беседы: ФПБ 1</vt:lpstr>
      <vt:lpstr>LLM-беседы: ФПБ 2</vt:lpstr>
      <vt:lpstr>LLM-беседы: ФПБ 3</vt:lpstr>
      <vt:lpstr>LLM-беседы: И-слой 1</vt:lpstr>
      <vt:lpstr>И-слой: из социального</vt:lpstr>
      <vt:lpstr>И-слой: из когнитивного</vt:lpstr>
      <vt:lpstr>LLM-беседы: И-слой 2</vt:lpstr>
      <vt:lpstr> </vt:lpstr>
    </vt:vector>
  </TitlesOfParts>
  <Company>UNESCO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unesco</dc:creator>
  <cp:lastModifiedBy>Pavel Krupkin</cp:lastModifiedBy>
  <cp:revision>177</cp:revision>
  <dcterms:created xsi:type="dcterms:W3CDTF">2010-07-29T11:06:14Z</dcterms:created>
  <dcterms:modified xsi:type="dcterms:W3CDTF">2026-09-21T05:58:17Z</dcterms:modified>
</cp:coreProperties>
</file>